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9.svg" ContentType="image/svg+xml"/>
  <Override PartName="/ppt/media/image21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5" r:id="rId8"/>
    <p:sldId id="261" r:id="rId9"/>
    <p:sldId id="262" r:id="rId10"/>
    <p:sldId id="268" r:id="rId11"/>
    <p:sldId id="269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07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sv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sv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5.png"/><Relationship Id="rId2" Type="http://schemas.openxmlformats.org/officeDocument/2006/relationships/image" Target="../media/image19.svg"/><Relationship Id="rId1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9.svg"/><Relationship Id="rId1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7.svg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svg"/><Relationship Id="rId7" Type="http://schemas.openxmlformats.org/officeDocument/2006/relationships/image" Target="../media/image34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37.svg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logostu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520" y="155575"/>
            <a:ext cx="1548130" cy="11703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590165" y="156210"/>
            <a:ext cx="9364980" cy="11709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50000"/>
              </a:lnSpc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TRƯỜNG ĐẠI HỌC CÔNG NGHỆ  SÀI GÒN</a:t>
            </a:r>
            <a:endParaRPr lang="en-US" sz="3200" b="1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KHOA CÔNG NGHỆ THÔNG TIN</a:t>
            </a:r>
            <a:endParaRPr lang="en-US" sz="3200" b="1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4520" y="2145030"/>
            <a:ext cx="11086465" cy="137414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400" cap="all">
                <a:solidFill>
                  <a:schemeClr val="bg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XÂY DỰNG WEBSITE BÁN VÉ SỰ KIỆN</a:t>
            </a:r>
            <a:endParaRPr lang="en-US" sz="4400" cap="all">
              <a:solidFill>
                <a:schemeClr val="bg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04520" y="4145280"/>
            <a:ext cx="3139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Giảng viên hướng dẫn: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04520" y="4715510"/>
            <a:ext cx="3139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Sinh viên thực hiện: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04520" y="5285740"/>
            <a:ext cx="3139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Mã số sinh viên: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4413885" y="413956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TRẦN VŨ HOÀNG ƯNG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4413885" y="470979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VÕ MINH THUẬN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4413885" y="528574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DH52108656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Freeform 9"/>
          <p:cNvSpPr/>
          <p:nvPr/>
        </p:nvSpPr>
        <p:spPr>
          <a:xfrm rot="21120000">
            <a:off x="-1270000" y="-1758315"/>
            <a:ext cx="4620260" cy="4182745"/>
          </a:xfrm>
          <a:custGeom>
            <a:avLst/>
            <a:gdLst/>
            <a:ahLst/>
            <a:cxnLst/>
            <a:rect l="l" t="t" r="r" b="b"/>
            <a:pathLst>
              <a:path w="2827361" h="2368013">
                <a:moveTo>
                  <a:pt x="0" y="0"/>
                </a:moveTo>
                <a:lnTo>
                  <a:pt x="2827360" y="0"/>
                </a:lnTo>
                <a:lnTo>
                  <a:pt x="2827360" y="2368013"/>
                </a:lnTo>
                <a:lnTo>
                  <a:pt x="0" y="236801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>
                <a:solidFill>
                  <a:schemeClr val="accent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NỘI DUNG</a:t>
            </a:r>
            <a:endParaRPr lang="en-US" b="1">
              <a:solidFill>
                <a:schemeClr val="accent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759585" y="1691005"/>
            <a:ext cx="8472805" cy="103505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1. MỤC TIÊU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Freeform 4"/>
          <p:cNvSpPr/>
          <p:nvPr/>
        </p:nvSpPr>
        <p:spPr>
          <a:xfrm rot="720000">
            <a:off x="10754708" y="4780827"/>
            <a:ext cx="1959026" cy="3145519"/>
          </a:xfrm>
          <a:custGeom>
            <a:avLst/>
            <a:gdLst/>
            <a:ahLst/>
            <a:cxnLst/>
            <a:rect l="l" t="t" r="r" b="b"/>
            <a:pathLst>
              <a:path w="1959026" h="3145519">
                <a:moveTo>
                  <a:pt x="0" y="0"/>
                </a:moveTo>
                <a:lnTo>
                  <a:pt x="1959026" y="0"/>
                </a:lnTo>
                <a:lnTo>
                  <a:pt x="1959026" y="3145520"/>
                </a:lnTo>
                <a:lnTo>
                  <a:pt x="0" y="3145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Rounded Rectangle 12"/>
          <p:cNvSpPr/>
          <p:nvPr/>
        </p:nvSpPr>
        <p:spPr>
          <a:xfrm>
            <a:off x="1759585" y="3002280"/>
            <a:ext cx="8472805" cy="103505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2. CÔNG NGHỆ SỬ DỤNG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759585" y="4313555"/>
            <a:ext cx="8472805" cy="103505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3. PHÂN TÍCH VÀ THIẾT KẾ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759585" y="5624830"/>
            <a:ext cx="8472805" cy="103505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4. KẾT LUẬN VÀ HƯỚNG PHÁT TRIỂN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Freeform 10"/>
          <p:cNvSpPr/>
          <p:nvPr/>
        </p:nvSpPr>
        <p:spPr>
          <a:xfrm rot="-2167199">
            <a:off x="11122373" y="603532"/>
            <a:ext cx="2404710" cy="1870091"/>
          </a:xfrm>
          <a:custGeom>
            <a:avLst/>
            <a:gdLst/>
            <a:ahLst/>
            <a:cxnLst/>
            <a:rect l="l" t="t" r="r" b="b"/>
            <a:pathLst>
              <a:path w="2404710" h="1870091">
                <a:moveTo>
                  <a:pt x="0" y="0"/>
                </a:moveTo>
                <a:lnTo>
                  <a:pt x="2404710" y="0"/>
                </a:lnTo>
                <a:lnTo>
                  <a:pt x="2404710" y="1870092"/>
                </a:lnTo>
                <a:lnTo>
                  <a:pt x="0" y="18700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pPr algn="l"/>
            <a:r>
              <a:rPr lang="en-US" sz="3600" b="1">
                <a:solidFill>
                  <a:schemeClr val="accent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1. MỤC TIÊU</a:t>
            </a:r>
            <a:endParaRPr lang="en-US" sz="3600" b="1">
              <a:solidFill>
                <a:schemeClr val="accent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38200" y="1690370"/>
            <a:ext cx="10515600" cy="4178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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Thiết kế và xây dựng hệ thống bán vé sự kiện nhanh chóng, tiện lợi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"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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ảm bảo tính minh bạch và an toàn thông tin trong quá trình sử dụng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"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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Giảm sai sót, nâng cao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ộ chính xác trong phát hành và kiểm soát vé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"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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Hỗ trợ nhà tổ chức sự kiện quản l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vé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ơn giản và hiệu quả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Freeform 4"/>
          <p:cNvSpPr/>
          <p:nvPr/>
        </p:nvSpPr>
        <p:spPr>
          <a:xfrm rot="720000">
            <a:off x="9927303" y="4427132"/>
            <a:ext cx="1959026" cy="3145519"/>
          </a:xfrm>
          <a:custGeom>
            <a:avLst/>
            <a:gdLst/>
            <a:ahLst/>
            <a:cxnLst/>
            <a:rect l="l" t="t" r="r" b="b"/>
            <a:pathLst>
              <a:path w="1959026" h="3145519">
                <a:moveTo>
                  <a:pt x="0" y="0"/>
                </a:moveTo>
                <a:lnTo>
                  <a:pt x="1959026" y="0"/>
                </a:lnTo>
                <a:lnTo>
                  <a:pt x="1959026" y="3145520"/>
                </a:lnTo>
                <a:lnTo>
                  <a:pt x="0" y="314552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4"/>
          <p:cNvSpPr/>
          <p:nvPr/>
        </p:nvSpPr>
        <p:spPr>
          <a:xfrm rot="720000">
            <a:off x="-1182022" y="5460912"/>
            <a:ext cx="1959026" cy="3145519"/>
          </a:xfrm>
          <a:custGeom>
            <a:avLst/>
            <a:gdLst/>
            <a:ahLst/>
            <a:cxnLst/>
            <a:rect l="l" t="t" r="r" b="b"/>
            <a:pathLst>
              <a:path w="1959026" h="3145519">
                <a:moveTo>
                  <a:pt x="0" y="0"/>
                </a:moveTo>
                <a:lnTo>
                  <a:pt x="1959026" y="0"/>
                </a:lnTo>
                <a:lnTo>
                  <a:pt x="1959026" y="3145520"/>
                </a:lnTo>
                <a:lnTo>
                  <a:pt x="0" y="314552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4"/>
          <p:cNvSpPr/>
          <p:nvPr/>
        </p:nvSpPr>
        <p:spPr>
          <a:xfrm rot="720000">
            <a:off x="11015693" y="-1988908"/>
            <a:ext cx="1959026" cy="3145519"/>
          </a:xfrm>
          <a:custGeom>
            <a:avLst/>
            <a:gdLst/>
            <a:ahLst/>
            <a:cxnLst/>
            <a:rect l="l" t="t" r="r" b="b"/>
            <a:pathLst>
              <a:path w="1959026" h="3145519">
                <a:moveTo>
                  <a:pt x="0" y="0"/>
                </a:moveTo>
                <a:lnTo>
                  <a:pt x="1959026" y="0"/>
                </a:lnTo>
                <a:lnTo>
                  <a:pt x="1959026" y="3145520"/>
                </a:lnTo>
                <a:lnTo>
                  <a:pt x="0" y="314552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280" y="0"/>
            <a:ext cx="10637520" cy="1325880"/>
          </a:xfrm>
        </p:spPr>
        <p:txBody>
          <a:bodyPr/>
          <a:p>
            <a:pPr algn="l"/>
            <a:r>
              <a:rPr lang="en-US" sz="3600" b="1">
                <a:solidFill>
                  <a:schemeClr val="accent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2. CÔNG NGHỆ SỬ DỤNG</a:t>
            </a:r>
            <a:endParaRPr lang="en-US" sz="3600" b="1">
              <a:solidFill>
                <a:schemeClr val="accent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Picture 8" descr="logonodejs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31872" b="26326"/>
          <a:stretch>
            <a:fillRect/>
          </a:stretch>
        </p:blipFill>
        <p:spPr>
          <a:xfrm>
            <a:off x="8815070" y="1438910"/>
            <a:ext cx="2675255" cy="1282700"/>
          </a:xfrm>
          <a:prstGeom prst="rect">
            <a:avLst/>
          </a:prstGeom>
        </p:spPr>
      </p:pic>
      <p:pic>
        <p:nvPicPr>
          <p:cNvPr id="11" name="Picture 10" descr="log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185" y="1421130"/>
            <a:ext cx="2507615" cy="1300480"/>
          </a:xfrm>
          <a:prstGeom prst="rect">
            <a:avLst/>
          </a:prstGeom>
        </p:spPr>
      </p:pic>
      <p:pic>
        <p:nvPicPr>
          <p:cNvPr id="12" name="Picture 11" descr="log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" y="1435735"/>
            <a:ext cx="2286000" cy="1285875"/>
          </a:xfrm>
          <a:prstGeom prst="rect">
            <a:avLst/>
          </a:prstGeom>
        </p:spPr>
      </p:pic>
      <p:pic>
        <p:nvPicPr>
          <p:cNvPr id="4" name="Picture 3" descr="logojw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5460" y="3862705"/>
            <a:ext cx="3703320" cy="2316480"/>
          </a:xfrm>
          <a:prstGeom prst="rect">
            <a:avLst/>
          </a:prstGeom>
        </p:spPr>
      </p:pic>
      <p:pic>
        <p:nvPicPr>
          <p:cNvPr id="6" name="Picture 5" descr="logov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8760" y="3395345"/>
            <a:ext cx="3251200" cy="3251200"/>
          </a:xfrm>
          <a:prstGeom prst="rect">
            <a:avLst/>
          </a:prstGeom>
        </p:spPr>
      </p:pic>
      <p:pic>
        <p:nvPicPr>
          <p:cNvPr id="7" name="Picture 6" descr="logotailwi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030" y="4379595"/>
            <a:ext cx="2508250" cy="1282700"/>
          </a:xfrm>
          <a:prstGeom prst="rect">
            <a:avLst/>
          </a:prstGeom>
        </p:spPr>
      </p:pic>
      <p:sp>
        <p:nvSpPr>
          <p:cNvPr id="10" name="Freeform 10"/>
          <p:cNvSpPr/>
          <p:nvPr/>
        </p:nvSpPr>
        <p:spPr>
          <a:xfrm rot="13852800">
            <a:off x="10914380" y="-1962150"/>
            <a:ext cx="3535045" cy="3308350"/>
          </a:xfrm>
          <a:custGeom>
            <a:avLst/>
            <a:gdLst/>
            <a:ahLst/>
            <a:cxnLst/>
            <a:rect l="l" t="t" r="r" b="b"/>
            <a:pathLst>
              <a:path w="2404710" h="1870091">
                <a:moveTo>
                  <a:pt x="0" y="0"/>
                </a:moveTo>
                <a:lnTo>
                  <a:pt x="2404710" y="0"/>
                </a:lnTo>
                <a:lnTo>
                  <a:pt x="2404710" y="1870092"/>
                </a:lnTo>
                <a:lnTo>
                  <a:pt x="0" y="18700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pPr algn="l">
              <a:buClrTx/>
              <a:buSzTx/>
              <a:buFontTx/>
            </a:pPr>
            <a:r>
              <a:rPr lang="en-US" sz="3600" b="1">
                <a:solidFill>
                  <a:schemeClr val="accent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3. PHÂN TÍCH VÀ THIẾT KẾ</a:t>
            </a:r>
            <a:endParaRPr lang="en-US" sz="3600" b="1">
              <a:solidFill>
                <a:schemeClr val="accent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2" name="Picture 82" descr="Ảnh màn hình 2025-12-10 lúc 10.15.14 S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7100" y="972185"/>
            <a:ext cx="5203190" cy="542544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467100" y="6397625"/>
            <a:ext cx="52031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Sơ đồ Usecase tổng quát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Freeform 3"/>
          <p:cNvSpPr/>
          <p:nvPr/>
        </p:nvSpPr>
        <p:spPr>
          <a:xfrm>
            <a:off x="-2315845" y="-1131570"/>
            <a:ext cx="5059045" cy="3359785"/>
          </a:xfrm>
          <a:custGeom>
            <a:avLst/>
            <a:gdLst/>
            <a:ahLst/>
            <a:cxnLst/>
            <a:rect l="l" t="t" r="r" b="b"/>
            <a:pathLst>
              <a:path w="3431857" h="2368013">
                <a:moveTo>
                  <a:pt x="0" y="0"/>
                </a:moveTo>
                <a:lnTo>
                  <a:pt x="3431857" y="0"/>
                </a:lnTo>
                <a:lnTo>
                  <a:pt x="3431857" y="2368013"/>
                </a:lnTo>
                <a:lnTo>
                  <a:pt x="0" y="2368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8"/>
          <p:cNvSpPr/>
          <p:nvPr/>
        </p:nvSpPr>
        <p:spPr>
          <a:xfrm>
            <a:off x="10521950" y="5203190"/>
            <a:ext cx="9882505" cy="2240915"/>
          </a:xfrm>
          <a:custGeom>
            <a:avLst/>
            <a:gdLst/>
            <a:ahLst/>
            <a:cxnLst/>
            <a:rect l="l" t="t" r="r" b="b"/>
            <a:pathLst>
              <a:path w="4256973" h="916705">
                <a:moveTo>
                  <a:pt x="0" y="0"/>
                </a:moveTo>
                <a:lnTo>
                  <a:pt x="4256972" y="0"/>
                </a:lnTo>
                <a:lnTo>
                  <a:pt x="4256972" y="916705"/>
                </a:lnTo>
                <a:lnTo>
                  <a:pt x="0" y="916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pPr algn="l">
              <a:buClrTx/>
              <a:buSzTx/>
              <a:buFontTx/>
            </a:pPr>
            <a:r>
              <a:rPr lang="en-US" sz="3600" b="1">
                <a:solidFill>
                  <a:schemeClr val="accent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3. PHÂN TÍCH VÀ THIẾT KẾ</a:t>
            </a:r>
            <a:endParaRPr lang="en-US" sz="3600" b="1">
              <a:solidFill>
                <a:schemeClr val="accent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01" name="Picture 101" descr="Ảnh màn hình 2025-12-11 lúc 2.28.37 C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520" y="1325880"/>
            <a:ext cx="5475605" cy="4577715"/>
          </a:xfrm>
          <a:prstGeom prst="rect">
            <a:avLst/>
          </a:prstGeom>
        </p:spPr>
      </p:pic>
      <p:pic>
        <p:nvPicPr>
          <p:cNvPr id="124" name="Picture 124" descr="Ảnh màn hình 2025-12-12 lúc 8.41.23 S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475605" cy="457835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056640" y="623506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Sơ đồ tuần tự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152005" y="623506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Sơ đồ hoạt động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Freeform 3"/>
          <p:cNvSpPr/>
          <p:nvPr/>
        </p:nvSpPr>
        <p:spPr>
          <a:xfrm rot="4140000">
            <a:off x="9528810" y="-1702435"/>
            <a:ext cx="5059045" cy="3359785"/>
          </a:xfrm>
          <a:custGeom>
            <a:avLst/>
            <a:gdLst/>
            <a:ahLst/>
            <a:cxnLst/>
            <a:rect l="l" t="t" r="r" b="b"/>
            <a:pathLst>
              <a:path w="3431857" h="2368013">
                <a:moveTo>
                  <a:pt x="0" y="0"/>
                </a:moveTo>
                <a:lnTo>
                  <a:pt x="3431857" y="0"/>
                </a:lnTo>
                <a:lnTo>
                  <a:pt x="3431857" y="2368013"/>
                </a:lnTo>
                <a:lnTo>
                  <a:pt x="0" y="23680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r>
              <a:rPr lang="en-US" sz="3600" b="1">
                <a:solidFill>
                  <a:schemeClr val="accent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3. PHÂN TÍCH VÀ THIẾT KẾ</a:t>
            </a:r>
            <a:endParaRPr lang="en-US" sz="3600" b="1">
              <a:solidFill>
                <a:schemeClr val="accent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Freeform 3"/>
          <p:cNvSpPr/>
          <p:nvPr/>
        </p:nvSpPr>
        <p:spPr>
          <a:xfrm flipV="1">
            <a:off x="-1908810" y="1533525"/>
            <a:ext cx="15913735" cy="4224655"/>
          </a:xfrm>
          <a:custGeom>
            <a:avLst/>
            <a:gdLst/>
            <a:ahLst/>
            <a:cxnLst/>
            <a:rect l="l" t="t" r="r" b="b"/>
            <a:pathLst>
              <a:path w="3431857" h="2368013">
                <a:moveTo>
                  <a:pt x="0" y="0"/>
                </a:moveTo>
                <a:lnTo>
                  <a:pt x="3431857" y="0"/>
                </a:lnTo>
                <a:lnTo>
                  <a:pt x="3431857" y="2368013"/>
                </a:lnTo>
                <a:lnTo>
                  <a:pt x="0" y="236801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49" name="Picture 49" descr="Ảnh màn hình 2025-12-10 lúc 10.02.17 S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27430"/>
            <a:ext cx="10748010" cy="514096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064000" y="61683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Cơ sở dữ liệu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pPr algn="l">
              <a:buClrTx/>
              <a:buSzTx/>
              <a:buFontTx/>
            </a:pPr>
            <a:r>
              <a:rPr lang="en-US" sz="3600" b="1">
                <a:solidFill>
                  <a:schemeClr val="accent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4.KẾT LUẬN VÀ HƯỚNG PHÁT TRIỂN</a:t>
            </a:r>
            <a:endParaRPr lang="en-US" sz="3600" b="1">
              <a:solidFill>
                <a:schemeClr val="accent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37565" y="1866900"/>
            <a:ext cx="1033716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250000"/>
              </a:lnSpc>
              <a:buFont typeface="Wingdings" panose="05000000000000000000" charset="0"/>
              <a:buChar char="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Xây dựng một bản phân tích và thiết kế hệ thống.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250000"/>
              </a:lnSpc>
              <a:buFont typeface="Wingdings" panose="05000000000000000000" charset="0"/>
              <a:buChar char="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Hoàn thiện hệ thống bán vé sự kiện với các chức n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ng cơ bản.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250000"/>
              </a:lnSpc>
              <a:buFont typeface="Wingdings" panose="05000000000000000000" charset="0"/>
              <a:buChar char="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Hệ thống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ợc triển khai thành công trên Vervel và Render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250000"/>
              </a:lnSpc>
              <a:buFont typeface="Wingdings" panose="05000000000000000000" charset="0"/>
              <a:buChar char="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Kiến trúc hệ thống có khả n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ng mở rộng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37565" y="1326515"/>
            <a:ext cx="4064000" cy="540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Kết quả</a:t>
            </a:r>
            <a:endParaRPr lang="en-US" sz="3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Freeform 3"/>
          <p:cNvSpPr/>
          <p:nvPr/>
        </p:nvSpPr>
        <p:spPr>
          <a:xfrm>
            <a:off x="8861425" y="4643120"/>
            <a:ext cx="4296410" cy="3046095"/>
          </a:xfrm>
          <a:custGeom>
            <a:avLst/>
            <a:gdLst/>
            <a:ahLst/>
            <a:cxnLst/>
            <a:rect l="l" t="t" r="r" b="b"/>
            <a:pathLst>
              <a:path w="3431857" h="2368013">
                <a:moveTo>
                  <a:pt x="0" y="0"/>
                </a:moveTo>
                <a:lnTo>
                  <a:pt x="3431857" y="0"/>
                </a:lnTo>
                <a:lnTo>
                  <a:pt x="3431857" y="2368013"/>
                </a:lnTo>
                <a:lnTo>
                  <a:pt x="0" y="236801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pPr algn="l">
              <a:buClrTx/>
              <a:buSzTx/>
              <a:buFontTx/>
            </a:pPr>
            <a:r>
              <a:rPr lang="en-US" sz="3600" b="1">
                <a:solidFill>
                  <a:schemeClr val="accent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4.KẾT LUẬN VÀ HƯỚNG PHÁT TRIỂN</a:t>
            </a:r>
            <a:endParaRPr lang="en-US" sz="3600" b="1">
              <a:solidFill>
                <a:schemeClr val="accent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37565" y="1911985"/>
            <a:ext cx="10337165" cy="3759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250000"/>
              </a:lnSpc>
              <a:buFont typeface="Wingdings" panose="05000000000000000000" charset="0"/>
              <a:buChar char="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Tốc độ phản hồi và khả năng chịu tải chưa hoàn thiện.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250000"/>
              </a:lnSpc>
              <a:buFont typeface="Wingdings" panose="05000000000000000000" charset="0"/>
              <a:buChar char="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Giao diện chưa tối ưu trên thiết bị di động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250000"/>
              </a:lnSpc>
              <a:buFont typeface="Wingdings" panose="05000000000000000000" charset="0"/>
              <a:buChar char="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Chưa triển khai cơ chế chống bot mua vé hàng loạt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250000"/>
              </a:lnSpc>
              <a:buFont typeface="Wingdings" panose="05000000000000000000" charset="0"/>
              <a:buChar char="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Chưa triển khai chức năng gửi vé điện tử sau khi thanh toán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38200" y="1325880"/>
            <a:ext cx="40640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Hạn chế</a:t>
            </a:r>
            <a:endParaRPr lang="en-US" sz="3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8765540" y="4805045"/>
            <a:ext cx="5794375" cy="4242435"/>
          </a:xfrm>
          <a:custGeom>
            <a:avLst/>
            <a:gdLst/>
            <a:ahLst/>
            <a:cxnLst/>
            <a:rect l="l" t="t" r="r" b="b"/>
            <a:pathLst>
              <a:path w="2841950" h="2538110">
                <a:moveTo>
                  <a:pt x="0" y="0"/>
                </a:moveTo>
                <a:lnTo>
                  <a:pt x="2841950" y="0"/>
                </a:lnTo>
                <a:lnTo>
                  <a:pt x="2841950" y="2538110"/>
                </a:lnTo>
                <a:lnTo>
                  <a:pt x="0" y="25381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pPr algn="l">
              <a:buClrTx/>
              <a:buSzTx/>
              <a:buFontTx/>
            </a:pPr>
            <a:r>
              <a:rPr lang="en-US" sz="3600" b="1">
                <a:solidFill>
                  <a:schemeClr val="accent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4.KẾT LUẬN VÀ HƯỚNG PHÁT TRIỂN</a:t>
            </a:r>
            <a:endParaRPr lang="en-US" sz="3600" b="1">
              <a:solidFill>
                <a:schemeClr val="accent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907540" y="1845310"/>
            <a:ext cx="3212465" cy="202628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Hỗ trợ sản phẩm trên thiết bị di động</a:t>
            </a:r>
            <a:endPara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1050" y="1845310"/>
            <a:ext cx="3212465" cy="202628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Tối ưu hiệu năng và khả năng chịu tải  </a:t>
            </a:r>
            <a:endPara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07540" y="4545330"/>
            <a:ext cx="3212465" cy="202628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Phát triển chức năng gợi ý các sự kiện </a:t>
            </a:r>
            <a:endPara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131050" y="4545330"/>
            <a:ext cx="3212465" cy="202628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Xây dựng tính năng chống bot khi mua vé </a:t>
            </a:r>
            <a:endPara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838200" y="1101090"/>
            <a:ext cx="40640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Hướng phát triển</a:t>
            </a:r>
            <a:endParaRPr lang="en-US" sz="3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Freeform 2"/>
          <p:cNvSpPr/>
          <p:nvPr/>
        </p:nvSpPr>
        <p:spPr>
          <a:xfrm>
            <a:off x="9923492" y="-1612581"/>
            <a:ext cx="4561018" cy="4552307"/>
          </a:xfrm>
          <a:custGeom>
            <a:avLst/>
            <a:gdLst/>
            <a:ahLst/>
            <a:cxnLst/>
            <a:rect l="l" t="t" r="r" b="b"/>
            <a:pathLst>
              <a:path w="4561018" h="4552307">
                <a:moveTo>
                  <a:pt x="0" y="0"/>
                </a:moveTo>
                <a:lnTo>
                  <a:pt x="4561018" y="0"/>
                </a:lnTo>
                <a:lnTo>
                  <a:pt x="4561018" y="4552308"/>
                </a:lnTo>
                <a:lnTo>
                  <a:pt x="0" y="45523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2"/>
          <p:cNvSpPr/>
          <p:nvPr/>
        </p:nvSpPr>
        <p:spPr>
          <a:xfrm>
            <a:off x="-1313790" y="4266232"/>
            <a:ext cx="3708482" cy="4259981"/>
          </a:xfrm>
          <a:custGeom>
            <a:avLst/>
            <a:gdLst/>
            <a:ahLst/>
            <a:cxnLst/>
            <a:rect l="l" t="t" r="r" b="b"/>
            <a:pathLst>
              <a:path w="3708482" h="4259981">
                <a:moveTo>
                  <a:pt x="0" y="0"/>
                </a:moveTo>
                <a:lnTo>
                  <a:pt x="3708482" y="0"/>
                </a:lnTo>
                <a:lnTo>
                  <a:pt x="3708482" y="4259980"/>
                </a:lnTo>
                <a:lnTo>
                  <a:pt x="0" y="42599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3"/>
          <p:cNvSpPr/>
          <p:nvPr/>
        </p:nvSpPr>
        <p:spPr>
          <a:xfrm flipV="1">
            <a:off x="-4255229" y="-1592642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5">
              <a:alphaModFix amt="2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/>
          <p:cNvSpPr/>
          <p:nvPr/>
        </p:nvSpPr>
        <p:spPr>
          <a:xfrm>
            <a:off x="9923729" y="482536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6"/>
          <p:cNvSpPr/>
          <p:nvPr/>
        </p:nvSpPr>
        <p:spPr>
          <a:xfrm>
            <a:off x="-56905" y="-334139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7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Rounded Rectangle 9"/>
          <p:cNvSpPr/>
          <p:nvPr/>
        </p:nvSpPr>
        <p:spPr>
          <a:xfrm>
            <a:off x="2019935" y="1732280"/>
            <a:ext cx="8152765" cy="323215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CẢM ƠN THẦY CÔ VÀ CÁC BẠN ĐÃ LẮNG NGHE !</a:t>
            </a:r>
            <a:endParaRPr lang="en-US" sz="240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1426</Words>
  <Application>WPS Presentation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Times New Roman</vt:lpstr>
      <vt:lpstr>Wingdings</vt:lpstr>
      <vt:lpstr>Microsoft YaHei</vt:lpstr>
      <vt:lpstr>汉仪旗黑</vt:lpstr>
      <vt:lpstr>Arial Unicode MS</vt:lpstr>
      <vt:lpstr>Calibri Light</vt:lpstr>
      <vt:lpstr>Helvetica Neue</vt:lpstr>
      <vt:lpstr>Calibri</vt:lpstr>
      <vt:lpstr>汉仪书宋二KW</vt:lpstr>
      <vt:lpstr>Office Theme</vt:lpstr>
      <vt:lpstr>PowerPoint 演示文稿</vt:lpstr>
      <vt:lpstr>NỘI DUNG</vt:lpstr>
      <vt:lpstr>1. MỤC TIÊU</vt:lpstr>
      <vt:lpstr>2. CÔNG NGHỆ SỬ DỤNG</vt:lpstr>
      <vt:lpstr>3. PHÂN TÍCH VÀ THIẾT KẾ</vt:lpstr>
      <vt:lpstr>3. PHÂN TÍCH VÀ THIẾT KẾ</vt:lpstr>
      <vt:lpstr>3. PHÂN TÍCH VÀ THIẾT KẾ</vt:lpstr>
      <vt:lpstr>4.KẾT LUẬN VÀ HƯỚNG PHÁT TRIỂN</vt:lpstr>
      <vt:lpstr>4.KẾT LUẬN VÀ HƯỚNG PHÁT TRIỂN</vt:lpstr>
      <vt:lpstr>4.KẾT LUẬN VÀ HƯỚNG PHÁT TRIỂN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Thuận Võ</cp:lastModifiedBy>
  <cp:revision>144</cp:revision>
  <dcterms:created xsi:type="dcterms:W3CDTF">2026-01-19T03:45:08Z</dcterms:created>
  <dcterms:modified xsi:type="dcterms:W3CDTF">2026-01-19T03:45:08Z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7C2B36947F4BC9E8CB2E676902F427D4_41</vt:lpwstr>
  </property>
  <property fmtid="{D5CDD505-2E9C-101B-9397-08002B2CF9AE}" pid="3" name="KSOProductBuildVer">
    <vt:lpwstr>1033-12.1.23152.23152</vt:lpwstr>
  </property>
</Properties>
</file>