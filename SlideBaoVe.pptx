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1.svg" ContentType="image/svg+xml"/>
  <Override PartName="/ppt/media/image13.svg" ContentType="image/svg+xml"/>
  <Override PartName="/ppt/media/image22.svg" ContentType="image/svg+xml"/>
  <Override PartName="/ppt/media/image24.svg" ContentType="image/svg+xml"/>
  <Override PartName="/ppt/media/image3.svg" ContentType="image/svg+xml"/>
  <Override PartName="/ppt/media/image31.svg" ContentType="image/svg+xml"/>
  <Override PartName="/ppt/media/image33.svg" ContentType="image/svg+xml"/>
  <Override PartName="/ppt/media/image35.svg" ContentType="image/svg+xml"/>
  <Override PartName="/ppt/media/image37.svg" ContentType="image/svg+xml"/>
  <Override PartName="/ppt/media/image39.svg" ContentType="image/svg+xml"/>
  <Override PartName="/ppt/media/image5.svg" ContentType="image/svg+xml"/>
  <Override PartName="/ppt/media/image7.svg" ContentType="image/svg+xml"/>
  <Override PartName="/ppt/media/image9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5" r:id="rId8"/>
    <p:sldId id="261" r:id="rId9"/>
    <p:sldId id="262" r:id="rId10"/>
    <p:sldId id="268" r:id="rId11"/>
    <p:sldId id="269" r:id="rId12"/>
    <p:sldId id="264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09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1" autoAdjust="0"/>
    <p:restoredTop sz="94660"/>
  </p:normalViewPr>
  <p:slideViewPr>
    <p:cSldViewPr snapToGrid="0" showGuides="1">
      <p:cViewPr varScale="1">
        <p:scale>
          <a:sx n="53" d="100"/>
          <a:sy n="53" d="100"/>
        </p:scale>
        <p:origin x="180" y="54"/>
      </p:cViewPr>
      <p:guideLst>
        <p:guide orient="horz" pos="2109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6" Type="http://schemas.openxmlformats.org/officeDocument/2006/relationships/tableStyles" Target="tableStyles.xml"/><Relationship Id="rId15" Type="http://schemas.openxmlformats.org/officeDocument/2006/relationships/viewProps" Target="viewProps.xml"/><Relationship Id="rId14" Type="http://schemas.openxmlformats.org/officeDocument/2006/relationships/presProps" Target="presProps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7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6.xml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svg"/><Relationship Id="rId3" Type="http://schemas.openxmlformats.org/officeDocument/2006/relationships/image" Target="../media/image4.png"/><Relationship Id="rId2" Type="http://schemas.openxmlformats.org/officeDocument/2006/relationships/image" Target="../media/image3.svg"/><Relationship Id="rId1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6.xml"/><Relationship Id="rId4" Type="http://schemas.openxmlformats.org/officeDocument/2006/relationships/image" Target="../media/image11.svg"/><Relationship Id="rId3" Type="http://schemas.openxmlformats.org/officeDocument/2006/relationships/image" Target="../media/image10.png"/><Relationship Id="rId2" Type="http://schemas.openxmlformats.org/officeDocument/2006/relationships/image" Target="../media/image9.svg"/><Relationship Id="rId1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image" Target="../media/image7.svg"/><Relationship Id="rId8" Type="http://schemas.openxmlformats.org/officeDocument/2006/relationships/image" Target="../media/image19.png"/><Relationship Id="rId7" Type="http://schemas.openxmlformats.org/officeDocument/2006/relationships/image" Target="../media/image18.png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Relationship Id="rId3" Type="http://schemas.openxmlformats.org/officeDocument/2006/relationships/image" Target="../media/image14.png"/><Relationship Id="rId2" Type="http://schemas.openxmlformats.org/officeDocument/2006/relationships/image" Target="../media/image13.svg"/><Relationship Id="rId10" Type="http://schemas.openxmlformats.org/officeDocument/2006/relationships/slideLayout" Target="../slideLayouts/slideLayout6.xml"/><Relationship Id="rId1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6.xml"/><Relationship Id="rId5" Type="http://schemas.openxmlformats.org/officeDocument/2006/relationships/image" Target="../media/image24.svg"/><Relationship Id="rId4" Type="http://schemas.openxmlformats.org/officeDocument/2006/relationships/image" Target="../media/image23.png"/><Relationship Id="rId3" Type="http://schemas.openxmlformats.org/officeDocument/2006/relationships/image" Target="../media/image22.svg"/><Relationship Id="rId2" Type="http://schemas.openxmlformats.org/officeDocument/2006/relationships/image" Target="../media/image21.png"/><Relationship Id="rId1" Type="http://schemas.openxmlformats.org/officeDocument/2006/relationships/image" Target="../media/image20.png"/></Relationships>
</file>

<file path=ppt/slides/_rels/slide6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6.xml"/><Relationship Id="rId4" Type="http://schemas.openxmlformats.org/officeDocument/2006/relationships/image" Target="../media/image27.png"/><Relationship Id="rId3" Type="http://schemas.openxmlformats.org/officeDocument/2006/relationships/image" Target="../media/image26.png"/><Relationship Id="rId2" Type="http://schemas.openxmlformats.org/officeDocument/2006/relationships/image" Target="../media/image22.svg"/><Relationship Id="rId1" Type="http://schemas.openxmlformats.org/officeDocument/2006/relationships/image" Target="../media/image25.png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6.xml"/><Relationship Id="rId3" Type="http://schemas.openxmlformats.org/officeDocument/2006/relationships/image" Target="../media/image28.png"/><Relationship Id="rId2" Type="http://schemas.openxmlformats.org/officeDocument/2006/relationships/image" Target="../media/image22.svg"/><Relationship Id="rId1" Type="http://schemas.openxmlformats.org/officeDocument/2006/relationships/image" Target="../media/image2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image" Target="../media/image22.svg"/><Relationship Id="rId1" Type="http://schemas.openxmlformats.org/officeDocument/2006/relationships/image" Target="../media/image2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image" Target="../media/image11.svg"/><Relationship Id="rId1" Type="http://schemas.openxmlformats.org/officeDocument/2006/relationships/image" Target="../media/image29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9" Type="http://schemas.openxmlformats.org/officeDocument/2006/relationships/image" Target="../media/image38.png"/><Relationship Id="rId8" Type="http://schemas.openxmlformats.org/officeDocument/2006/relationships/image" Target="../media/image37.svg"/><Relationship Id="rId7" Type="http://schemas.openxmlformats.org/officeDocument/2006/relationships/image" Target="../media/image36.png"/><Relationship Id="rId6" Type="http://schemas.openxmlformats.org/officeDocument/2006/relationships/image" Target="../media/image35.svg"/><Relationship Id="rId5" Type="http://schemas.openxmlformats.org/officeDocument/2006/relationships/image" Target="../media/image34.png"/><Relationship Id="rId4" Type="http://schemas.openxmlformats.org/officeDocument/2006/relationships/image" Target="../media/image33.svg"/><Relationship Id="rId3" Type="http://schemas.openxmlformats.org/officeDocument/2006/relationships/image" Target="../media/image32.png"/><Relationship Id="rId2" Type="http://schemas.openxmlformats.org/officeDocument/2006/relationships/image" Target="../media/image31.svg"/><Relationship Id="rId11" Type="http://schemas.openxmlformats.org/officeDocument/2006/relationships/slideLayout" Target="../slideLayouts/slideLayout6.xml"/><Relationship Id="rId10" Type="http://schemas.openxmlformats.org/officeDocument/2006/relationships/image" Target="../media/image39.svg"/><Relationship Id="rId1" Type="http://schemas.openxmlformats.org/officeDocument/2006/relationships/image" Target="../media/image3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4" name="Picture 3" descr="logostu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4520" y="155575"/>
            <a:ext cx="1548130" cy="1170305"/>
          </a:xfrm>
          <a:prstGeom prst="rect">
            <a:avLst/>
          </a:prstGeom>
        </p:spPr>
      </p:pic>
      <p:sp>
        <p:nvSpPr>
          <p:cNvPr id="5" name="Text Box 4"/>
          <p:cNvSpPr txBox="1"/>
          <p:nvPr/>
        </p:nvSpPr>
        <p:spPr>
          <a:xfrm>
            <a:off x="2590165" y="156210"/>
            <a:ext cx="9364980" cy="1170940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p>
            <a:pPr algn="ctr">
              <a:lnSpc>
                <a:spcPct val="150000"/>
              </a:lnSpc>
            </a:pPr>
            <a:r>
              <a:rPr lang="en-US" sz="3200" b="1">
                <a:solidFill>
                  <a:schemeClr val="accent1">
                    <a:lumMod val="75000"/>
                  </a:schemeClr>
                </a:solidFill>
                <a:effectLst/>
                <a:latin typeface="Times New Roman" panose="02020603050405020304" charset="0"/>
                <a:cs typeface="Times New Roman" panose="02020603050405020304" charset="0"/>
              </a:rPr>
              <a:t>TRƯỜNG ĐẠI HỌC CÔNG NGHỆ  SÀI GÒN</a:t>
            </a:r>
            <a:endParaRPr lang="en-US" sz="3200" b="1">
              <a:solidFill>
                <a:schemeClr val="accent1">
                  <a:lumMod val="75000"/>
                </a:schemeClr>
              </a:solidFill>
              <a:effectLst/>
              <a:latin typeface="Times New Roman" panose="02020603050405020304" charset="0"/>
              <a:cs typeface="Times New Roman" panose="02020603050405020304" charset="0"/>
            </a:endParaRPr>
          </a:p>
          <a:p>
            <a:pPr algn="ctr">
              <a:lnSpc>
                <a:spcPct val="150000"/>
              </a:lnSpc>
            </a:pPr>
            <a:r>
              <a:rPr lang="en-US" sz="3200" b="1">
                <a:solidFill>
                  <a:schemeClr val="accent1">
                    <a:lumMod val="75000"/>
                  </a:schemeClr>
                </a:solidFill>
                <a:effectLst/>
                <a:latin typeface="Times New Roman" panose="02020603050405020304" charset="0"/>
                <a:cs typeface="Times New Roman" panose="02020603050405020304" charset="0"/>
              </a:rPr>
              <a:t>KHOA CÔNG NGHỆ THÔNG TIN</a:t>
            </a:r>
            <a:endParaRPr lang="en-US" sz="3200" b="1">
              <a:solidFill>
                <a:schemeClr val="accent1">
                  <a:lumMod val="75000"/>
                </a:schemeClr>
              </a:solidFill>
              <a:effectLst/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04520" y="2145030"/>
            <a:ext cx="11086465" cy="1374140"/>
          </a:xfrm>
          <a:prstGeom prst="roundRect">
            <a:avLst/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400" cap="all">
                <a:solidFill>
                  <a:schemeClr val="bg1"/>
                </a:solidFill>
                <a:uFillTx/>
                <a:latin typeface="Times New Roman" panose="02020603050405020304" charset="0"/>
                <a:cs typeface="Times New Roman" panose="02020603050405020304" charset="0"/>
              </a:rPr>
              <a:t>XÂY DỰNG WEBSITE BÁN VÉ SỰ KIỆN</a:t>
            </a:r>
            <a:endParaRPr lang="en-US" sz="4400" cap="all">
              <a:solidFill>
                <a:schemeClr val="bg1"/>
              </a:solidFill>
              <a:uFillTx/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7" name="Text Box 6"/>
          <p:cNvSpPr txBox="1"/>
          <p:nvPr/>
        </p:nvSpPr>
        <p:spPr>
          <a:xfrm>
            <a:off x="604520" y="4145280"/>
            <a:ext cx="313944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2400">
                <a:latin typeface="Times New Roman" panose="02020603050405020304" charset="0"/>
                <a:cs typeface="Times New Roman" panose="02020603050405020304" charset="0"/>
              </a:rPr>
              <a:t>Giảng viên hướng dẫn:</a:t>
            </a:r>
            <a:endParaRPr lang="en-US" sz="24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9" name="Text Box 8"/>
          <p:cNvSpPr txBox="1"/>
          <p:nvPr/>
        </p:nvSpPr>
        <p:spPr>
          <a:xfrm>
            <a:off x="604520" y="4715510"/>
            <a:ext cx="313944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2400">
                <a:latin typeface="Times New Roman" panose="02020603050405020304" charset="0"/>
                <a:cs typeface="Times New Roman" panose="02020603050405020304" charset="0"/>
              </a:rPr>
              <a:t>Sinh viên thực hiện:</a:t>
            </a:r>
            <a:endParaRPr lang="en-US" sz="24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0" name="Text Box 9"/>
          <p:cNvSpPr txBox="1"/>
          <p:nvPr/>
        </p:nvSpPr>
        <p:spPr>
          <a:xfrm>
            <a:off x="604520" y="5285740"/>
            <a:ext cx="313944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2400">
                <a:latin typeface="Times New Roman" panose="02020603050405020304" charset="0"/>
                <a:cs typeface="Times New Roman" panose="02020603050405020304" charset="0"/>
              </a:rPr>
              <a:t>Mã số sinh viên:</a:t>
            </a:r>
            <a:endParaRPr lang="en-US" sz="24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1" name="Text Box 10"/>
          <p:cNvSpPr txBox="1"/>
          <p:nvPr/>
        </p:nvSpPr>
        <p:spPr>
          <a:xfrm>
            <a:off x="4413885" y="4139565"/>
            <a:ext cx="40640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2400">
                <a:latin typeface="Times New Roman" panose="02020603050405020304" charset="0"/>
                <a:cs typeface="Times New Roman" panose="02020603050405020304" charset="0"/>
              </a:rPr>
              <a:t>TRẦN VŨ HOÀNG ƯNG</a:t>
            </a:r>
            <a:endParaRPr lang="en-US" sz="24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4" name="Text Box 13"/>
          <p:cNvSpPr txBox="1"/>
          <p:nvPr/>
        </p:nvSpPr>
        <p:spPr>
          <a:xfrm>
            <a:off x="4413885" y="4709795"/>
            <a:ext cx="40640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2400">
                <a:latin typeface="Times New Roman" panose="02020603050405020304" charset="0"/>
                <a:cs typeface="Times New Roman" panose="02020603050405020304" charset="0"/>
              </a:rPr>
              <a:t>VÕ MINH THUẬN</a:t>
            </a:r>
            <a:endParaRPr lang="en-US" sz="24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5" name="Text Box 14"/>
          <p:cNvSpPr txBox="1"/>
          <p:nvPr/>
        </p:nvSpPr>
        <p:spPr>
          <a:xfrm>
            <a:off x="4413885" y="5285740"/>
            <a:ext cx="40640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2400">
                <a:latin typeface="Times New Roman" panose="02020603050405020304" charset="0"/>
                <a:cs typeface="Times New Roman" panose="02020603050405020304" charset="0"/>
              </a:rPr>
              <a:t>DH52108656</a:t>
            </a:r>
            <a:endParaRPr lang="en-US" sz="2400"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6" name="Freeform 9"/>
          <p:cNvSpPr/>
          <p:nvPr/>
        </p:nvSpPr>
        <p:spPr>
          <a:xfrm>
            <a:off x="0" y="-55245"/>
            <a:ext cx="4620260" cy="4182745"/>
          </a:xfrm>
          <a:custGeom>
            <a:avLst/>
            <a:gdLst/>
            <a:ahLst/>
            <a:cxnLst/>
            <a:rect l="l" t="t" r="r" b="b"/>
            <a:pathLst>
              <a:path w="2827361" h="2368013">
                <a:moveTo>
                  <a:pt x="0" y="0"/>
                </a:moveTo>
                <a:lnTo>
                  <a:pt x="2827360" y="0"/>
                </a:lnTo>
                <a:lnTo>
                  <a:pt x="2827360" y="2368013"/>
                </a:lnTo>
                <a:lnTo>
                  <a:pt x="0" y="2368013"/>
                </a:lnTo>
                <a:lnTo>
                  <a:pt x="0" y="0"/>
                </a:lnTo>
                <a:close/>
              </a:path>
            </a:pathLst>
          </a:custGeom>
          <a:blipFill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11" name="Title 10"/>
          <p:cNvSpPr>
            <a:spLocks noGrp="1"/>
          </p:cNvSpPr>
          <p:nvPr>
            <p:ph type="title"/>
          </p:nvPr>
        </p:nvSpPr>
        <p:spPr/>
        <p:txBody>
          <a:bodyPr/>
          <a:p>
            <a:pPr algn="ctr"/>
            <a:r>
              <a:rPr lang="en-US" b="1">
                <a:solidFill>
                  <a:schemeClr val="accen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charset="0"/>
                <a:cs typeface="Times New Roman" panose="02020603050405020304" charset="0"/>
              </a:rPr>
              <a:t>NỘI DUNG</a:t>
            </a:r>
            <a:endParaRPr lang="en-US" b="1">
              <a:solidFill>
                <a:schemeClr val="accent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1759585" y="1691005"/>
            <a:ext cx="8472805" cy="1035050"/>
          </a:xfrm>
          <a:prstGeom prst="roundRect">
            <a:avLst/>
          </a:prstGeom>
          <a:solidFill>
            <a:schemeClr val="accent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2400">
                <a:latin typeface="Times New Roman" panose="02020603050405020304" charset="0"/>
                <a:cs typeface="Times New Roman" panose="02020603050405020304" charset="0"/>
              </a:rPr>
              <a:t>1. MỤC TIÊU</a:t>
            </a:r>
            <a:endParaRPr lang="en-US" sz="24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7" name="Freeform 4"/>
          <p:cNvSpPr/>
          <p:nvPr/>
        </p:nvSpPr>
        <p:spPr>
          <a:xfrm>
            <a:off x="9394538" y="4037242"/>
            <a:ext cx="1959026" cy="3145519"/>
          </a:xfrm>
          <a:custGeom>
            <a:avLst/>
            <a:gdLst/>
            <a:ahLst/>
            <a:cxnLst/>
            <a:rect l="l" t="t" r="r" b="b"/>
            <a:pathLst>
              <a:path w="1959026" h="3145519">
                <a:moveTo>
                  <a:pt x="0" y="0"/>
                </a:moveTo>
                <a:lnTo>
                  <a:pt x="1959026" y="0"/>
                </a:lnTo>
                <a:lnTo>
                  <a:pt x="1959026" y="3145520"/>
                </a:lnTo>
                <a:lnTo>
                  <a:pt x="0" y="314552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13" name="Rounded Rectangle 12"/>
          <p:cNvSpPr/>
          <p:nvPr/>
        </p:nvSpPr>
        <p:spPr>
          <a:xfrm>
            <a:off x="1759585" y="3002280"/>
            <a:ext cx="8472805" cy="1035050"/>
          </a:xfrm>
          <a:prstGeom prst="roundRect">
            <a:avLst/>
          </a:prstGeom>
          <a:solidFill>
            <a:schemeClr val="accent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2400">
                <a:latin typeface="Times New Roman" panose="02020603050405020304" charset="0"/>
                <a:cs typeface="Times New Roman" panose="02020603050405020304" charset="0"/>
              </a:rPr>
              <a:t>2. CÔNG NGHỆ SỬ DỤNG</a:t>
            </a:r>
            <a:endParaRPr lang="en-US" sz="24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1759585" y="4313555"/>
            <a:ext cx="8472805" cy="1035050"/>
          </a:xfrm>
          <a:prstGeom prst="roundRect">
            <a:avLst/>
          </a:prstGeom>
          <a:solidFill>
            <a:schemeClr val="accent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2400">
                <a:latin typeface="Times New Roman" panose="02020603050405020304" charset="0"/>
                <a:cs typeface="Times New Roman" panose="02020603050405020304" charset="0"/>
              </a:rPr>
              <a:t>3. PHÂN TÍCH VÀ THIẾT KẾ</a:t>
            </a:r>
            <a:endParaRPr lang="en-US" sz="24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1759585" y="5624830"/>
            <a:ext cx="8472805" cy="1035050"/>
          </a:xfrm>
          <a:prstGeom prst="roundRect">
            <a:avLst/>
          </a:prstGeom>
          <a:solidFill>
            <a:schemeClr val="accent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2400">
                <a:latin typeface="Times New Roman" panose="02020603050405020304" charset="0"/>
                <a:cs typeface="Times New Roman" panose="02020603050405020304" charset="0"/>
              </a:rPr>
              <a:t>4. KẾT LUẬN VÀ HƯỚNG PHÁT TRIỂN</a:t>
            </a:r>
            <a:endParaRPr lang="en-US" sz="24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0" name="Freeform 10"/>
          <p:cNvSpPr/>
          <p:nvPr/>
        </p:nvSpPr>
        <p:spPr>
          <a:xfrm rot="-2167199">
            <a:off x="11122373" y="603532"/>
            <a:ext cx="2404710" cy="1870091"/>
          </a:xfrm>
          <a:custGeom>
            <a:avLst/>
            <a:gdLst/>
            <a:ahLst/>
            <a:cxnLst/>
            <a:rect l="l" t="t" r="r" b="b"/>
            <a:pathLst>
              <a:path w="2404710" h="1870091">
                <a:moveTo>
                  <a:pt x="0" y="0"/>
                </a:moveTo>
                <a:lnTo>
                  <a:pt x="2404710" y="0"/>
                </a:lnTo>
                <a:lnTo>
                  <a:pt x="2404710" y="1870092"/>
                </a:lnTo>
                <a:lnTo>
                  <a:pt x="0" y="187009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p>
            <a:pPr algn="l"/>
            <a:r>
              <a:rPr lang="en-US" sz="3600" b="1">
                <a:solidFill>
                  <a:schemeClr val="accent1"/>
                </a:solidFill>
                <a:effectLst/>
                <a:latin typeface="Times New Roman" panose="02020603050405020304" charset="0"/>
                <a:cs typeface="Times New Roman" panose="02020603050405020304" charset="0"/>
              </a:rPr>
              <a:t>1. MỤC TIÊU</a:t>
            </a:r>
            <a:endParaRPr lang="en-US" sz="3600" b="1">
              <a:solidFill>
                <a:schemeClr val="accent1"/>
              </a:solidFill>
              <a:effectLst/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4" name="Text Box 3"/>
          <p:cNvSpPr txBox="1"/>
          <p:nvPr/>
        </p:nvSpPr>
        <p:spPr>
          <a:xfrm>
            <a:off x="838200" y="1690370"/>
            <a:ext cx="10515600" cy="41789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342900" indent="-342900" algn="just">
              <a:lnSpc>
                <a:spcPct val="150000"/>
              </a:lnSpc>
              <a:buFont typeface="Wingdings" panose="05000000000000000000" charset="0"/>
              <a:buChar char=""/>
            </a:pPr>
            <a:r>
              <a:rPr lang="en-US" altLang="en-US" sz="2400">
                <a:latin typeface="Times New Roman" panose="02020603050405020304" charset="0"/>
                <a:cs typeface="Times New Roman" panose="02020603050405020304" charset="0"/>
              </a:rPr>
              <a:t>Thiết kế và xây dựng hệ thống mua vé sự kiện nhanh chóng, tiện lợi</a:t>
            </a:r>
            <a:endParaRPr lang="en-US" altLang="en-US" sz="2400">
              <a:latin typeface="Times New Roman" panose="02020603050405020304" charset="0"/>
              <a:cs typeface="Times New Roman" panose="02020603050405020304" charset="0"/>
            </a:endParaRPr>
          </a:p>
          <a:p>
            <a:pPr marL="342900" indent="-342900" algn="just">
              <a:lnSpc>
                <a:spcPct val="150000"/>
              </a:lnSpc>
              <a:buFont typeface="Wingdings" panose="05000000000000000000" charset="0"/>
              <a:buChar char=""/>
            </a:pPr>
            <a:endParaRPr lang="en-US" altLang="en-US" sz="2400">
              <a:latin typeface="Times New Roman" panose="02020603050405020304" charset="0"/>
              <a:cs typeface="Times New Roman" panose="02020603050405020304" charset="0"/>
            </a:endParaRPr>
          </a:p>
          <a:p>
            <a:pPr marL="342900" indent="-342900" algn="just">
              <a:lnSpc>
                <a:spcPct val="150000"/>
              </a:lnSpc>
              <a:buFont typeface="Wingdings" panose="05000000000000000000" charset="0"/>
              <a:buChar char=""/>
            </a:pPr>
            <a:r>
              <a:rPr lang="en-US" altLang="en-US" sz="2400">
                <a:latin typeface="Times New Roman" panose="02020603050405020304" charset="0"/>
                <a:cs typeface="Times New Roman" panose="02020603050405020304" charset="0"/>
              </a:rPr>
              <a:t>Đ</a:t>
            </a:r>
            <a:r>
              <a:rPr lang="en-US" altLang="en-US" sz="2400">
                <a:latin typeface="Times New Roman" panose="02020603050405020304" charset="0"/>
                <a:cs typeface="Times New Roman" panose="02020603050405020304" charset="0"/>
              </a:rPr>
              <a:t>ảm bảo tính minh bạch và an toàn thông tin trong quá trình sử dụng</a:t>
            </a:r>
            <a:endParaRPr lang="en-US" altLang="en-US" sz="2400">
              <a:latin typeface="Times New Roman" panose="02020603050405020304" charset="0"/>
              <a:cs typeface="Times New Roman" panose="02020603050405020304" charset="0"/>
            </a:endParaRPr>
          </a:p>
          <a:p>
            <a:pPr marL="342900" indent="-342900" algn="just">
              <a:lnSpc>
                <a:spcPct val="150000"/>
              </a:lnSpc>
              <a:buFont typeface="Wingdings" panose="05000000000000000000" charset="0"/>
              <a:buChar char=""/>
            </a:pPr>
            <a:endParaRPr lang="en-US" altLang="en-US" sz="2400">
              <a:latin typeface="Times New Roman" panose="02020603050405020304" charset="0"/>
              <a:cs typeface="Times New Roman" panose="02020603050405020304" charset="0"/>
            </a:endParaRPr>
          </a:p>
          <a:p>
            <a:pPr marL="342900" indent="-342900" algn="just">
              <a:lnSpc>
                <a:spcPct val="150000"/>
              </a:lnSpc>
              <a:buFont typeface="Wingdings" panose="05000000000000000000" charset="0"/>
              <a:buChar char=""/>
            </a:pPr>
            <a:r>
              <a:rPr lang="en-US" altLang="en-US" sz="2400">
                <a:latin typeface="Times New Roman" panose="02020603050405020304" charset="0"/>
                <a:cs typeface="Times New Roman" panose="02020603050405020304" charset="0"/>
              </a:rPr>
              <a:t>Giảm sai sót, nâng cao </a:t>
            </a:r>
            <a:r>
              <a:rPr lang="en-US" altLang="en-US" sz="2400">
                <a:latin typeface="Times New Roman" panose="02020603050405020304" charset="0"/>
                <a:cs typeface="Times New Roman" panose="02020603050405020304" charset="0"/>
              </a:rPr>
              <a:t>đ</a:t>
            </a:r>
            <a:r>
              <a:rPr lang="en-US" altLang="en-US" sz="2400">
                <a:latin typeface="Times New Roman" panose="02020603050405020304" charset="0"/>
                <a:cs typeface="Times New Roman" panose="02020603050405020304" charset="0"/>
              </a:rPr>
              <a:t>ộ chính xác trong phát hành và kiểm soát vé</a:t>
            </a:r>
            <a:endParaRPr lang="en-US" altLang="en-US" sz="2400">
              <a:latin typeface="Times New Roman" panose="02020603050405020304" charset="0"/>
              <a:cs typeface="Times New Roman" panose="02020603050405020304" charset="0"/>
            </a:endParaRPr>
          </a:p>
          <a:p>
            <a:pPr marL="342900" indent="-342900" algn="just">
              <a:lnSpc>
                <a:spcPct val="150000"/>
              </a:lnSpc>
              <a:buFont typeface="Wingdings" panose="05000000000000000000" charset="0"/>
              <a:buChar char=""/>
            </a:pPr>
            <a:endParaRPr lang="en-US" altLang="en-US" sz="2400">
              <a:latin typeface="Times New Roman" panose="02020603050405020304" charset="0"/>
              <a:cs typeface="Times New Roman" panose="02020603050405020304" charset="0"/>
            </a:endParaRPr>
          </a:p>
          <a:p>
            <a:pPr marL="342900" indent="-342900" algn="just">
              <a:lnSpc>
                <a:spcPct val="150000"/>
              </a:lnSpc>
              <a:buFont typeface="Wingdings" panose="05000000000000000000" charset="0"/>
              <a:buChar char=""/>
            </a:pPr>
            <a:r>
              <a:rPr lang="en-US" altLang="en-US" sz="2400">
                <a:latin typeface="Times New Roman" panose="02020603050405020304" charset="0"/>
                <a:cs typeface="Times New Roman" panose="02020603050405020304" charset="0"/>
              </a:rPr>
              <a:t>Hỗ trợ nhà tổ chức sự kiện quản l</a:t>
            </a:r>
            <a:r>
              <a:rPr lang="en-US" altLang="en-US" sz="2400">
                <a:latin typeface="Times New Roman" panose="02020603050405020304" charset="0"/>
                <a:cs typeface="Times New Roman" panose="02020603050405020304" charset="0"/>
              </a:rPr>
              <a:t>ý</a:t>
            </a:r>
            <a:r>
              <a:rPr lang="en-US" altLang="en-US" sz="2400">
                <a:latin typeface="Times New Roman" panose="02020603050405020304" charset="0"/>
                <a:cs typeface="Times New Roman" panose="02020603050405020304" charset="0"/>
              </a:rPr>
              <a:t> vé </a:t>
            </a:r>
            <a:r>
              <a:rPr lang="en-US" altLang="en-US" sz="2400">
                <a:latin typeface="Times New Roman" panose="02020603050405020304" charset="0"/>
                <a:cs typeface="Times New Roman" panose="02020603050405020304" charset="0"/>
              </a:rPr>
              <a:t>đ</a:t>
            </a:r>
            <a:r>
              <a:rPr lang="en-US" altLang="en-US" sz="2400">
                <a:latin typeface="Times New Roman" panose="02020603050405020304" charset="0"/>
                <a:cs typeface="Times New Roman" panose="02020603050405020304" charset="0"/>
              </a:rPr>
              <a:t>ơn giản và hiệu quả</a:t>
            </a:r>
            <a:endParaRPr lang="en-US" altLang="en-US" sz="24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6" name="Freeform 6"/>
          <p:cNvSpPr/>
          <p:nvPr/>
        </p:nvSpPr>
        <p:spPr>
          <a:xfrm rot="2640000">
            <a:off x="-2692400" y="5622925"/>
            <a:ext cx="7599680" cy="3173730"/>
          </a:xfrm>
          <a:custGeom>
            <a:avLst/>
            <a:gdLst/>
            <a:ahLst/>
            <a:cxnLst/>
            <a:rect l="l" t="t" r="r" b="b"/>
            <a:pathLst>
              <a:path w="3633478" h="3218512">
                <a:moveTo>
                  <a:pt x="0" y="0"/>
                </a:moveTo>
                <a:lnTo>
                  <a:pt x="3633477" y="0"/>
                </a:lnTo>
                <a:lnTo>
                  <a:pt x="3633477" y="3218512"/>
                </a:lnTo>
                <a:lnTo>
                  <a:pt x="0" y="3218512"/>
                </a:lnTo>
                <a:lnTo>
                  <a:pt x="0" y="0"/>
                </a:lnTo>
                <a:close/>
              </a:path>
            </a:pathLst>
          </a:custGeom>
          <a:blipFill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9840595" y="-1344295"/>
            <a:ext cx="5132705" cy="4013835"/>
          </a:xfrm>
          <a:custGeom>
            <a:avLst/>
            <a:gdLst/>
            <a:ahLst/>
            <a:cxnLst/>
            <a:rect l="l" t="t" r="r" b="b"/>
            <a:pathLst>
              <a:path w="2841950" h="2538110">
                <a:moveTo>
                  <a:pt x="0" y="0"/>
                </a:moveTo>
                <a:lnTo>
                  <a:pt x="2841950" y="0"/>
                </a:lnTo>
                <a:lnTo>
                  <a:pt x="2841950" y="2538110"/>
                </a:lnTo>
                <a:lnTo>
                  <a:pt x="0" y="253811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6280" y="0"/>
            <a:ext cx="10637520" cy="1325880"/>
          </a:xfrm>
        </p:spPr>
        <p:txBody>
          <a:bodyPr/>
          <a:p>
            <a:pPr algn="l"/>
            <a:r>
              <a:rPr lang="en-US" sz="3600" b="1">
                <a:solidFill>
                  <a:schemeClr val="accent1"/>
                </a:solidFill>
                <a:effectLst/>
                <a:latin typeface="Times New Roman" panose="02020603050405020304" charset="0"/>
                <a:cs typeface="Times New Roman" panose="02020603050405020304" charset="0"/>
              </a:rPr>
              <a:t>2. CÔNG NGHỆ SỬ DỤNG</a:t>
            </a:r>
            <a:endParaRPr lang="en-US" sz="3600" b="1">
              <a:solidFill>
                <a:schemeClr val="accent1"/>
              </a:solidFill>
              <a:effectLst/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9" name="Picture 8" descr="logonodejs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31872" b="26326"/>
          <a:stretch>
            <a:fillRect/>
          </a:stretch>
        </p:blipFill>
        <p:spPr>
          <a:xfrm>
            <a:off x="8815070" y="1438910"/>
            <a:ext cx="2675255" cy="1282700"/>
          </a:xfrm>
          <a:prstGeom prst="rect">
            <a:avLst/>
          </a:prstGeom>
        </p:spPr>
      </p:pic>
      <p:pic>
        <p:nvPicPr>
          <p:cNvPr id="11" name="Picture 10" descr="logop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5185" y="1421130"/>
            <a:ext cx="2507615" cy="1300480"/>
          </a:xfrm>
          <a:prstGeom prst="rect">
            <a:avLst/>
          </a:prstGeom>
        </p:spPr>
      </p:pic>
      <p:pic>
        <p:nvPicPr>
          <p:cNvPr id="12" name="Picture 11" descr="logo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6280" y="1435735"/>
            <a:ext cx="2286000" cy="1285875"/>
          </a:xfrm>
          <a:prstGeom prst="rect">
            <a:avLst/>
          </a:prstGeom>
        </p:spPr>
      </p:pic>
      <p:pic>
        <p:nvPicPr>
          <p:cNvPr id="4" name="Picture 3" descr="logojwt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5460" y="3862705"/>
            <a:ext cx="3703320" cy="2316480"/>
          </a:xfrm>
          <a:prstGeom prst="rect">
            <a:avLst/>
          </a:prstGeom>
        </p:spPr>
      </p:pic>
      <p:pic>
        <p:nvPicPr>
          <p:cNvPr id="6" name="Picture 5" descr="logov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48760" y="3395345"/>
            <a:ext cx="3251200" cy="3251200"/>
          </a:xfrm>
          <a:prstGeom prst="rect">
            <a:avLst/>
          </a:prstGeom>
        </p:spPr>
      </p:pic>
      <p:pic>
        <p:nvPicPr>
          <p:cNvPr id="7" name="Picture 6" descr="logotailwi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4030" y="4379595"/>
            <a:ext cx="2508250" cy="1282700"/>
          </a:xfrm>
          <a:prstGeom prst="rect">
            <a:avLst/>
          </a:prstGeom>
        </p:spPr>
      </p:pic>
      <p:sp>
        <p:nvSpPr>
          <p:cNvPr id="10" name="Freeform 10"/>
          <p:cNvSpPr/>
          <p:nvPr/>
        </p:nvSpPr>
        <p:spPr>
          <a:xfrm rot="13852800">
            <a:off x="10914380" y="-1962150"/>
            <a:ext cx="3535045" cy="3308350"/>
          </a:xfrm>
          <a:custGeom>
            <a:avLst/>
            <a:gdLst/>
            <a:ahLst/>
            <a:cxnLst/>
            <a:rect l="l" t="t" r="r" b="b"/>
            <a:pathLst>
              <a:path w="2404710" h="1870091">
                <a:moveTo>
                  <a:pt x="0" y="0"/>
                </a:moveTo>
                <a:lnTo>
                  <a:pt x="2404710" y="0"/>
                </a:lnTo>
                <a:lnTo>
                  <a:pt x="2404710" y="1870092"/>
                </a:lnTo>
                <a:lnTo>
                  <a:pt x="0" y="187009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p>
            <a:pPr algn="l">
              <a:buClrTx/>
              <a:buSzTx/>
              <a:buFontTx/>
            </a:pPr>
            <a:r>
              <a:rPr lang="en-US" sz="3600" b="1">
                <a:solidFill>
                  <a:schemeClr val="accent1"/>
                </a:solidFill>
                <a:effectLst/>
                <a:latin typeface="Times New Roman" panose="02020603050405020304" charset="0"/>
                <a:cs typeface="Times New Roman" panose="02020603050405020304" charset="0"/>
              </a:rPr>
              <a:t>3. PHÂN TÍCH VÀ THIẾT KẾ</a:t>
            </a:r>
            <a:endParaRPr lang="en-US" sz="3600" b="1">
              <a:solidFill>
                <a:schemeClr val="accent1"/>
              </a:solidFill>
              <a:effectLst/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82" name="Picture 82" descr="Ảnh màn hình 2025-12-10 lúc 10.15.14 SA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67100" y="1064260"/>
            <a:ext cx="5203190" cy="5425440"/>
          </a:xfrm>
          <a:prstGeom prst="rect">
            <a:avLst/>
          </a:prstGeom>
        </p:spPr>
      </p:pic>
      <p:sp>
        <p:nvSpPr>
          <p:cNvPr id="8" name="Text Box 7"/>
          <p:cNvSpPr txBox="1"/>
          <p:nvPr/>
        </p:nvSpPr>
        <p:spPr>
          <a:xfrm>
            <a:off x="3467100" y="6489700"/>
            <a:ext cx="520319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sz="2400">
                <a:latin typeface="Times New Roman" panose="02020603050405020304" charset="0"/>
                <a:cs typeface="Times New Roman" panose="02020603050405020304" charset="0"/>
              </a:rPr>
              <a:t>Sơ đồ usecase tổng quát</a:t>
            </a:r>
            <a:endParaRPr lang="en-US" sz="24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0" name="Freeform 3"/>
          <p:cNvSpPr/>
          <p:nvPr/>
        </p:nvSpPr>
        <p:spPr>
          <a:xfrm>
            <a:off x="-2315845" y="-1131570"/>
            <a:ext cx="5059045" cy="3359785"/>
          </a:xfrm>
          <a:custGeom>
            <a:avLst/>
            <a:gdLst/>
            <a:ahLst/>
            <a:cxnLst/>
            <a:rect l="l" t="t" r="r" b="b"/>
            <a:pathLst>
              <a:path w="3431857" h="2368013">
                <a:moveTo>
                  <a:pt x="0" y="0"/>
                </a:moveTo>
                <a:lnTo>
                  <a:pt x="3431857" y="0"/>
                </a:lnTo>
                <a:lnTo>
                  <a:pt x="3431857" y="2368013"/>
                </a:lnTo>
                <a:lnTo>
                  <a:pt x="0" y="236801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8"/>
          <p:cNvSpPr/>
          <p:nvPr/>
        </p:nvSpPr>
        <p:spPr>
          <a:xfrm>
            <a:off x="10521950" y="5203190"/>
            <a:ext cx="9882505" cy="2240915"/>
          </a:xfrm>
          <a:custGeom>
            <a:avLst/>
            <a:gdLst/>
            <a:ahLst/>
            <a:cxnLst/>
            <a:rect l="l" t="t" r="r" b="b"/>
            <a:pathLst>
              <a:path w="4256973" h="916705">
                <a:moveTo>
                  <a:pt x="0" y="0"/>
                </a:moveTo>
                <a:lnTo>
                  <a:pt x="4256972" y="0"/>
                </a:lnTo>
                <a:lnTo>
                  <a:pt x="4256972" y="916705"/>
                </a:lnTo>
                <a:lnTo>
                  <a:pt x="0" y="91670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Freeform 3"/>
          <p:cNvSpPr/>
          <p:nvPr/>
        </p:nvSpPr>
        <p:spPr>
          <a:xfrm flipV="1">
            <a:off x="-1745615" y="1533525"/>
            <a:ext cx="15242540" cy="4224655"/>
          </a:xfrm>
          <a:custGeom>
            <a:avLst/>
            <a:gdLst/>
            <a:ahLst/>
            <a:cxnLst/>
            <a:rect l="l" t="t" r="r" b="b"/>
            <a:pathLst>
              <a:path w="3431857" h="2368013">
                <a:moveTo>
                  <a:pt x="0" y="0"/>
                </a:moveTo>
                <a:lnTo>
                  <a:pt x="3431857" y="0"/>
                </a:lnTo>
                <a:lnTo>
                  <a:pt x="3431857" y="2368013"/>
                </a:lnTo>
                <a:lnTo>
                  <a:pt x="0" y="2368013"/>
                </a:lnTo>
                <a:lnTo>
                  <a:pt x="0" y="0"/>
                </a:lnTo>
                <a:close/>
              </a:path>
            </a:pathLst>
          </a:custGeom>
          <a:blipFill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p>
            <a:pPr algn="l">
              <a:buClrTx/>
              <a:buSzTx/>
              <a:buFontTx/>
            </a:pPr>
            <a:r>
              <a:rPr lang="en-US" sz="3600" b="1">
                <a:solidFill>
                  <a:schemeClr val="accent1"/>
                </a:solidFill>
                <a:effectLst/>
                <a:latin typeface="Times New Roman" panose="02020603050405020304" charset="0"/>
                <a:cs typeface="Times New Roman" panose="02020603050405020304" charset="0"/>
                <a:sym typeface="+mn-ea"/>
              </a:rPr>
              <a:t>3. PHÂN TÍCH VÀ THIẾT KẾ</a:t>
            </a:r>
            <a:endParaRPr lang="en-US" sz="3600" b="1">
              <a:solidFill>
                <a:schemeClr val="accent1"/>
              </a:solidFill>
              <a:effectLst/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pic>
        <p:nvPicPr>
          <p:cNvPr id="101" name="Picture 101" descr="Ảnh màn hình 2025-12-11 lúc 2.28.37 CH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3520" y="1132205"/>
            <a:ext cx="5730240" cy="5126990"/>
          </a:xfrm>
          <a:prstGeom prst="rect">
            <a:avLst/>
          </a:prstGeom>
        </p:spPr>
      </p:pic>
      <p:pic>
        <p:nvPicPr>
          <p:cNvPr id="124" name="Picture 124" descr="Ảnh màn hình 2025-12-12 lúc 8.41.23 SA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18885" y="1132840"/>
            <a:ext cx="5730240" cy="5126355"/>
          </a:xfrm>
          <a:prstGeom prst="rect">
            <a:avLst/>
          </a:prstGeom>
        </p:spPr>
      </p:pic>
      <p:sp>
        <p:nvSpPr>
          <p:cNvPr id="3" name="Text Box 2"/>
          <p:cNvSpPr txBox="1"/>
          <p:nvPr/>
        </p:nvSpPr>
        <p:spPr>
          <a:xfrm>
            <a:off x="1056640" y="639826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/>
              <a:t>Sơ đồ tuần tự</a:t>
            </a:r>
            <a:endParaRPr lang="en-US"/>
          </a:p>
        </p:txBody>
      </p:sp>
      <p:sp>
        <p:nvSpPr>
          <p:cNvPr id="4" name="Text Box 3"/>
          <p:cNvSpPr txBox="1"/>
          <p:nvPr/>
        </p:nvSpPr>
        <p:spPr>
          <a:xfrm>
            <a:off x="7152005" y="639826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/>
              <a:t>Sơ đồ hoạt động</a:t>
            </a:r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p>
            <a:r>
              <a:rPr lang="en-US" sz="3600" b="1">
                <a:solidFill>
                  <a:schemeClr val="accent1"/>
                </a:solidFill>
                <a:effectLst/>
                <a:latin typeface="Times New Roman" panose="02020603050405020304" charset="0"/>
                <a:cs typeface="Times New Roman" panose="02020603050405020304" charset="0"/>
                <a:sym typeface="+mn-ea"/>
              </a:rPr>
              <a:t>3. PHÂN TÍCH VÀ THIẾT KẾ</a:t>
            </a:r>
            <a:endParaRPr lang="en-US" sz="3600" b="1">
              <a:solidFill>
                <a:schemeClr val="accent1"/>
              </a:solidFill>
              <a:effectLst/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6" name="Freeform 3"/>
          <p:cNvSpPr/>
          <p:nvPr/>
        </p:nvSpPr>
        <p:spPr>
          <a:xfrm flipV="1">
            <a:off x="-1745615" y="1533525"/>
            <a:ext cx="15242540" cy="4224655"/>
          </a:xfrm>
          <a:custGeom>
            <a:avLst/>
            <a:gdLst/>
            <a:ahLst/>
            <a:cxnLst/>
            <a:rect l="l" t="t" r="r" b="b"/>
            <a:pathLst>
              <a:path w="3431857" h="2368013">
                <a:moveTo>
                  <a:pt x="0" y="0"/>
                </a:moveTo>
                <a:lnTo>
                  <a:pt x="3431857" y="0"/>
                </a:lnTo>
                <a:lnTo>
                  <a:pt x="3431857" y="2368013"/>
                </a:lnTo>
                <a:lnTo>
                  <a:pt x="0" y="2368013"/>
                </a:lnTo>
                <a:lnTo>
                  <a:pt x="0" y="0"/>
                </a:lnTo>
                <a:close/>
              </a:path>
            </a:pathLst>
          </a:custGeom>
          <a:blipFill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pic>
        <p:nvPicPr>
          <p:cNvPr id="49" name="Picture 49" descr="Ảnh màn hình 2025-12-10 lúc 10.02.17 S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027430"/>
            <a:ext cx="10748010" cy="5140960"/>
          </a:xfrm>
          <a:prstGeom prst="rect">
            <a:avLst/>
          </a:prstGeom>
        </p:spPr>
      </p:pic>
      <p:sp>
        <p:nvSpPr>
          <p:cNvPr id="3" name="Text Box 2"/>
          <p:cNvSpPr txBox="1"/>
          <p:nvPr/>
        </p:nvSpPr>
        <p:spPr>
          <a:xfrm>
            <a:off x="4064000" y="616839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/>
              <a:t>Cơ sở dữ liệu</a:t>
            </a:r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p>
            <a:pPr algn="l">
              <a:buClrTx/>
              <a:buSzTx/>
              <a:buFontTx/>
            </a:pPr>
            <a:r>
              <a:rPr lang="en-US" sz="3600" b="1">
                <a:solidFill>
                  <a:schemeClr val="accent1"/>
                </a:solidFill>
                <a:effectLst/>
                <a:latin typeface="Times New Roman" panose="02020603050405020304" charset="0"/>
                <a:cs typeface="Times New Roman" panose="02020603050405020304" charset="0"/>
              </a:rPr>
              <a:t>4.KẾT LUẬN VÀ HƯỚNG PHÁT TRIỂN</a:t>
            </a:r>
            <a:endParaRPr lang="en-US" sz="3600" b="1">
              <a:solidFill>
                <a:schemeClr val="accent1"/>
              </a:solidFill>
              <a:effectLst/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" name="Text Box 2"/>
          <p:cNvSpPr txBox="1"/>
          <p:nvPr/>
        </p:nvSpPr>
        <p:spPr>
          <a:xfrm>
            <a:off x="837565" y="1866900"/>
            <a:ext cx="10337165" cy="37846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342900" indent="-342900">
              <a:lnSpc>
                <a:spcPct val="200000"/>
              </a:lnSpc>
              <a:buFont typeface="Wingdings" panose="05000000000000000000" charset="0"/>
              <a:buChar char=""/>
            </a:pPr>
            <a:r>
              <a:rPr lang="en-US" altLang="en-US" sz="2400">
                <a:latin typeface="Times New Roman" panose="02020603050405020304" charset="0"/>
                <a:cs typeface="Times New Roman" panose="02020603050405020304" charset="0"/>
              </a:rPr>
              <a:t>Phân tích và thiết kế hệ thống </a:t>
            </a:r>
            <a:r>
              <a:rPr lang="en-US" altLang="en-US" sz="2400">
                <a:latin typeface="Times New Roman" panose="02020603050405020304" charset="0"/>
                <a:cs typeface="Times New Roman" panose="02020603050405020304" charset="0"/>
              </a:rPr>
              <a:t>đ</a:t>
            </a:r>
            <a:r>
              <a:rPr lang="en-US" altLang="en-US" sz="2400">
                <a:latin typeface="Times New Roman" panose="02020603050405020304" charset="0"/>
                <a:cs typeface="Times New Roman" panose="02020603050405020304" charset="0"/>
              </a:rPr>
              <a:t>áp ứng các yêu cầu của ng</a:t>
            </a:r>
            <a:r>
              <a:rPr lang="en-US" altLang="en-US" sz="2400">
                <a:latin typeface="Times New Roman" panose="02020603050405020304" charset="0"/>
                <a:cs typeface="Times New Roman" panose="02020603050405020304" charset="0"/>
              </a:rPr>
              <a:t>ư</a:t>
            </a:r>
            <a:r>
              <a:rPr lang="en-US" altLang="en-US" sz="2400">
                <a:latin typeface="Times New Roman" panose="02020603050405020304" charset="0"/>
                <a:cs typeface="Times New Roman" panose="02020603050405020304" charset="0"/>
              </a:rPr>
              <a:t>ời dùng.</a:t>
            </a:r>
            <a:endParaRPr lang="en-US" altLang="en-US" sz="2400">
              <a:latin typeface="Times New Roman" panose="02020603050405020304" charset="0"/>
              <a:cs typeface="Times New Roman" panose="02020603050405020304" charset="0"/>
            </a:endParaRPr>
          </a:p>
          <a:p>
            <a:pPr marL="342900" indent="-342900">
              <a:lnSpc>
                <a:spcPct val="200000"/>
              </a:lnSpc>
              <a:buFont typeface="Wingdings" panose="05000000000000000000" charset="0"/>
              <a:buChar char=""/>
            </a:pPr>
            <a:r>
              <a:rPr lang="en-US" altLang="en-US" sz="2400">
                <a:latin typeface="Times New Roman" panose="02020603050405020304" charset="0"/>
                <a:cs typeface="Times New Roman" panose="02020603050405020304" charset="0"/>
              </a:rPr>
              <a:t>Xây dựng hoàn thiện hệ thống bán vé sự kiện với các chức n</a:t>
            </a:r>
            <a:r>
              <a:rPr lang="en-US" altLang="en-US" sz="2400">
                <a:latin typeface="Times New Roman" panose="02020603050405020304" charset="0"/>
                <a:cs typeface="Times New Roman" panose="02020603050405020304" charset="0"/>
              </a:rPr>
              <a:t>ă</a:t>
            </a:r>
            <a:r>
              <a:rPr lang="en-US" altLang="en-US" sz="2400">
                <a:latin typeface="Times New Roman" panose="02020603050405020304" charset="0"/>
                <a:cs typeface="Times New Roman" panose="02020603050405020304" charset="0"/>
              </a:rPr>
              <a:t>ng cốt l</a:t>
            </a:r>
            <a:r>
              <a:rPr lang="en-US" altLang="en-US" sz="2400">
                <a:latin typeface="Times New Roman" panose="02020603050405020304" charset="0"/>
                <a:cs typeface="Times New Roman" panose="02020603050405020304" charset="0"/>
              </a:rPr>
              <a:t>õ</a:t>
            </a:r>
            <a:r>
              <a:rPr lang="en-US" altLang="en-US" sz="2400">
                <a:latin typeface="Times New Roman" panose="02020603050405020304" charset="0"/>
                <a:cs typeface="Times New Roman" panose="02020603050405020304" charset="0"/>
              </a:rPr>
              <a:t>i, </a:t>
            </a:r>
            <a:r>
              <a:rPr lang="en-US" altLang="en-US" sz="2400">
                <a:latin typeface="Times New Roman" panose="02020603050405020304" charset="0"/>
                <a:cs typeface="Times New Roman" panose="02020603050405020304" charset="0"/>
              </a:rPr>
              <a:t>đ</a:t>
            </a:r>
            <a:r>
              <a:rPr lang="en-US" altLang="en-US" sz="2400">
                <a:latin typeface="Times New Roman" panose="02020603050405020304" charset="0"/>
                <a:cs typeface="Times New Roman" panose="02020603050405020304" charset="0"/>
              </a:rPr>
              <a:t>áp ứng mục tiêu </a:t>
            </a:r>
            <a:r>
              <a:rPr lang="en-US" altLang="en-US" sz="2400">
                <a:latin typeface="Times New Roman" panose="02020603050405020304" charset="0"/>
                <a:cs typeface="Times New Roman" panose="02020603050405020304" charset="0"/>
              </a:rPr>
              <a:t>đ</a:t>
            </a:r>
            <a:r>
              <a:rPr lang="en-US" altLang="en-US" sz="2400">
                <a:latin typeface="Times New Roman" panose="02020603050405020304" charset="0"/>
                <a:cs typeface="Times New Roman" panose="02020603050405020304" charset="0"/>
              </a:rPr>
              <a:t>ề tài.</a:t>
            </a:r>
            <a:endParaRPr lang="en-US" altLang="en-US" sz="2400">
              <a:latin typeface="Times New Roman" panose="02020603050405020304" charset="0"/>
              <a:cs typeface="Times New Roman" panose="02020603050405020304" charset="0"/>
            </a:endParaRPr>
          </a:p>
          <a:p>
            <a:pPr marL="342900" indent="-342900">
              <a:lnSpc>
                <a:spcPct val="200000"/>
              </a:lnSpc>
              <a:buFont typeface="Wingdings" panose="05000000000000000000" charset="0"/>
              <a:buChar char=""/>
            </a:pPr>
            <a:r>
              <a:rPr lang="en-US" altLang="en-US" sz="2400">
                <a:latin typeface="Times New Roman" panose="02020603050405020304" charset="0"/>
                <a:cs typeface="Times New Roman" panose="02020603050405020304" charset="0"/>
              </a:rPr>
              <a:t>Triển khai hệ thống thành công trên môi tr</a:t>
            </a:r>
            <a:r>
              <a:rPr lang="en-US" altLang="en-US" sz="2400">
                <a:latin typeface="Times New Roman" panose="02020603050405020304" charset="0"/>
                <a:cs typeface="Times New Roman" panose="02020603050405020304" charset="0"/>
              </a:rPr>
              <a:t>ư</a:t>
            </a:r>
            <a:r>
              <a:rPr lang="en-US" altLang="en-US" sz="2400">
                <a:latin typeface="Times New Roman" panose="02020603050405020304" charset="0"/>
                <a:cs typeface="Times New Roman" panose="02020603050405020304" charset="0"/>
              </a:rPr>
              <a:t>ờng production.</a:t>
            </a:r>
            <a:endParaRPr lang="en-US" altLang="en-US" sz="2400">
              <a:latin typeface="Times New Roman" panose="02020603050405020304" charset="0"/>
              <a:cs typeface="Times New Roman" panose="02020603050405020304" charset="0"/>
            </a:endParaRPr>
          </a:p>
          <a:p>
            <a:pPr marL="342900" indent="-342900">
              <a:lnSpc>
                <a:spcPct val="200000"/>
              </a:lnSpc>
              <a:buFont typeface="Wingdings" panose="05000000000000000000" charset="0"/>
              <a:buChar char=""/>
            </a:pPr>
            <a:r>
              <a:rPr lang="en-US" altLang="en-US" sz="2400">
                <a:latin typeface="Times New Roman" panose="02020603050405020304" charset="0"/>
                <a:cs typeface="Times New Roman" panose="02020603050405020304" charset="0"/>
              </a:rPr>
              <a:t>Xây dựng hệ thống có khả n</a:t>
            </a:r>
            <a:r>
              <a:rPr lang="en-US" altLang="en-US" sz="2400">
                <a:latin typeface="Times New Roman" panose="02020603050405020304" charset="0"/>
                <a:cs typeface="Times New Roman" panose="02020603050405020304" charset="0"/>
              </a:rPr>
              <a:t>ă</a:t>
            </a:r>
            <a:r>
              <a:rPr lang="en-US" altLang="en-US" sz="2400">
                <a:latin typeface="Times New Roman" panose="02020603050405020304" charset="0"/>
                <a:cs typeface="Times New Roman" panose="02020603050405020304" charset="0"/>
              </a:rPr>
              <a:t>ng mở rộng và bảo trì.</a:t>
            </a:r>
            <a:endParaRPr lang="en-US" altLang="en-US" sz="24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4" name="Text Box 3"/>
          <p:cNvSpPr txBox="1"/>
          <p:nvPr/>
        </p:nvSpPr>
        <p:spPr>
          <a:xfrm>
            <a:off x="837565" y="1326515"/>
            <a:ext cx="4064000" cy="5403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sz="3000">
                <a:solidFill>
                  <a:schemeClr val="accent1">
                    <a:lumMod val="60000"/>
                    <a:lumOff val="4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Kết quả</a:t>
            </a:r>
            <a:endParaRPr lang="en-US" sz="3000">
              <a:solidFill>
                <a:schemeClr val="accent1">
                  <a:lumMod val="60000"/>
                  <a:lumOff val="40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5" name="Freeform 3"/>
          <p:cNvSpPr/>
          <p:nvPr/>
        </p:nvSpPr>
        <p:spPr>
          <a:xfrm>
            <a:off x="8861425" y="4643120"/>
            <a:ext cx="4296410" cy="3046095"/>
          </a:xfrm>
          <a:custGeom>
            <a:avLst/>
            <a:gdLst/>
            <a:ahLst/>
            <a:cxnLst/>
            <a:rect l="l" t="t" r="r" b="b"/>
            <a:pathLst>
              <a:path w="3431857" h="2368013">
                <a:moveTo>
                  <a:pt x="0" y="0"/>
                </a:moveTo>
                <a:lnTo>
                  <a:pt x="3431857" y="0"/>
                </a:lnTo>
                <a:lnTo>
                  <a:pt x="3431857" y="2368013"/>
                </a:lnTo>
                <a:lnTo>
                  <a:pt x="0" y="2368013"/>
                </a:lnTo>
                <a:lnTo>
                  <a:pt x="0" y="0"/>
                </a:lnTo>
                <a:close/>
              </a:path>
            </a:pathLst>
          </a:custGeom>
          <a:blipFill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p>
            <a:pPr algn="l">
              <a:buClrTx/>
              <a:buSzTx/>
              <a:buFontTx/>
            </a:pPr>
            <a:r>
              <a:rPr lang="en-US" sz="3600" b="1">
                <a:solidFill>
                  <a:schemeClr val="accent1"/>
                </a:solidFill>
                <a:effectLst/>
                <a:latin typeface="Times New Roman" panose="02020603050405020304" charset="0"/>
                <a:cs typeface="Times New Roman" panose="02020603050405020304" charset="0"/>
                <a:sym typeface="+mn-ea"/>
              </a:rPr>
              <a:t>4.KẾT LUẬN VÀ HƯỚNG PHÁT TRIỂN</a:t>
            </a:r>
            <a:endParaRPr lang="en-US" sz="3600" b="1">
              <a:solidFill>
                <a:schemeClr val="accent1"/>
              </a:solidFill>
              <a:effectLst/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" name="Text Box 2"/>
          <p:cNvSpPr txBox="1"/>
          <p:nvPr/>
        </p:nvSpPr>
        <p:spPr>
          <a:xfrm>
            <a:off x="837565" y="1911985"/>
            <a:ext cx="10337165" cy="304609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342900" indent="-342900">
              <a:lnSpc>
                <a:spcPct val="200000"/>
              </a:lnSpc>
              <a:buFont typeface="Wingdings" panose="05000000000000000000" charset="0"/>
              <a:buChar char=""/>
            </a:pPr>
            <a:r>
              <a:rPr lang="en-US" sz="2400">
                <a:latin typeface="Times New Roman" panose="02020603050405020304" charset="0"/>
                <a:cs typeface="Times New Roman" panose="02020603050405020304" charset="0"/>
                <a:sym typeface="+mn-ea"/>
              </a:rPr>
              <a:t>Tốc độ phản hồi và khả năng chịu tải của hệ thống chưa đáp ứng.</a:t>
            </a:r>
            <a:endParaRPr lang="en-US" sz="2400">
              <a:latin typeface="Times New Roman" panose="02020603050405020304" charset="0"/>
              <a:cs typeface="Times New Roman" panose="02020603050405020304" charset="0"/>
            </a:endParaRPr>
          </a:p>
          <a:p>
            <a:pPr marL="342900" indent="-342900">
              <a:lnSpc>
                <a:spcPct val="200000"/>
              </a:lnSpc>
              <a:buFont typeface="Wingdings" panose="05000000000000000000" charset="0"/>
              <a:buChar char=""/>
            </a:pPr>
            <a:r>
              <a:rPr lang="en-US" sz="2400">
                <a:latin typeface="Times New Roman" panose="02020603050405020304" charset="0"/>
                <a:cs typeface="Times New Roman" panose="02020603050405020304" charset="0"/>
                <a:sym typeface="+mn-ea"/>
              </a:rPr>
              <a:t>Giao diện chưa tối ưu trên thiết bị di động</a:t>
            </a:r>
            <a:endParaRPr lang="en-US" sz="2400">
              <a:latin typeface="Times New Roman" panose="02020603050405020304" charset="0"/>
              <a:cs typeface="Times New Roman" panose="02020603050405020304" charset="0"/>
            </a:endParaRPr>
          </a:p>
          <a:p>
            <a:pPr marL="342900" indent="-342900">
              <a:lnSpc>
                <a:spcPct val="200000"/>
              </a:lnSpc>
              <a:buFont typeface="Wingdings" panose="05000000000000000000" charset="0"/>
              <a:buChar char=""/>
            </a:pPr>
            <a:r>
              <a:rPr lang="en-US" sz="2400">
                <a:latin typeface="Times New Roman" panose="02020603050405020304" charset="0"/>
                <a:cs typeface="Times New Roman" panose="02020603050405020304" charset="0"/>
                <a:sym typeface="+mn-ea"/>
              </a:rPr>
              <a:t>Chưa có cơ chế chống bot mua vé hàng loạt</a:t>
            </a:r>
            <a:endParaRPr lang="en-US" sz="2400">
              <a:latin typeface="Times New Roman" panose="02020603050405020304" charset="0"/>
              <a:cs typeface="Times New Roman" panose="02020603050405020304" charset="0"/>
            </a:endParaRPr>
          </a:p>
          <a:p>
            <a:pPr marL="342900" indent="-342900">
              <a:lnSpc>
                <a:spcPct val="200000"/>
              </a:lnSpc>
              <a:buFont typeface="Wingdings" panose="05000000000000000000" charset="0"/>
              <a:buChar char=""/>
            </a:pPr>
            <a:r>
              <a:rPr lang="en-US" altLang="en-US" sz="2400">
                <a:latin typeface="Times New Roman" panose="02020603050405020304" charset="0"/>
                <a:cs typeface="Times New Roman" panose="02020603050405020304" charset="0"/>
                <a:sym typeface="+mn-ea"/>
              </a:rPr>
              <a:t>Chưa triển khai chức năng gửi vé điện tử cho người dùng sau khi thanh toán</a:t>
            </a:r>
            <a:endParaRPr lang="en-US" altLang="en-US" sz="24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4" name="Text Box 3"/>
          <p:cNvSpPr txBox="1"/>
          <p:nvPr/>
        </p:nvSpPr>
        <p:spPr>
          <a:xfrm>
            <a:off x="838200" y="1325880"/>
            <a:ext cx="4064000" cy="5530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3000">
                <a:solidFill>
                  <a:schemeClr val="accent1">
                    <a:lumMod val="60000"/>
                    <a:lumOff val="40000"/>
                  </a:schemeClr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Hạn chế</a:t>
            </a:r>
            <a:endParaRPr lang="en-US" sz="3000">
              <a:solidFill>
                <a:schemeClr val="accent1">
                  <a:lumMod val="60000"/>
                  <a:lumOff val="40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7" name="Freeform 7"/>
          <p:cNvSpPr/>
          <p:nvPr/>
        </p:nvSpPr>
        <p:spPr>
          <a:xfrm>
            <a:off x="8765540" y="4805045"/>
            <a:ext cx="5794375" cy="4242435"/>
          </a:xfrm>
          <a:custGeom>
            <a:avLst/>
            <a:gdLst/>
            <a:ahLst/>
            <a:cxnLst/>
            <a:rect l="l" t="t" r="r" b="b"/>
            <a:pathLst>
              <a:path w="2841950" h="2538110">
                <a:moveTo>
                  <a:pt x="0" y="0"/>
                </a:moveTo>
                <a:lnTo>
                  <a:pt x="2841950" y="0"/>
                </a:lnTo>
                <a:lnTo>
                  <a:pt x="2841950" y="2538110"/>
                </a:lnTo>
                <a:lnTo>
                  <a:pt x="0" y="2538110"/>
                </a:lnTo>
                <a:lnTo>
                  <a:pt x="0" y="0"/>
                </a:lnTo>
                <a:close/>
              </a:path>
            </a:pathLst>
          </a:custGeom>
          <a:blipFill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p>
            <a:pPr algn="l">
              <a:buClrTx/>
              <a:buSzTx/>
              <a:buFontTx/>
            </a:pPr>
            <a:r>
              <a:rPr lang="en-US" sz="3600" b="1">
                <a:solidFill>
                  <a:schemeClr val="accent1"/>
                </a:solidFill>
                <a:effectLst/>
                <a:latin typeface="Times New Roman" panose="02020603050405020304" charset="0"/>
                <a:cs typeface="Times New Roman" panose="02020603050405020304" charset="0"/>
                <a:sym typeface="+mn-ea"/>
              </a:rPr>
              <a:t>4.KẾT LUẬN VÀ HƯỚNG PHÁT TRIỂN</a:t>
            </a:r>
            <a:endParaRPr lang="en-US" sz="3600" b="1">
              <a:solidFill>
                <a:schemeClr val="accent1"/>
              </a:solidFill>
              <a:effectLst/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1907540" y="1845310"/>
            <a:ext cx="3212465" cy="2026285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0"/>
          </a:gradFill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Hỗ trợ sản phẩm trên thiết bị di động</a:t>
            </a:r>
            <a:endParaRPr lang="en-US" sz="2400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7131050" y="1845310"/>
            <a:ext cx="3212465" cy="2026285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0"/>
          </a:gradFill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Tối ưu hiệu năng và khả năng chịu tải của hệ thống </a:t>
            </a:r>
            <a:endParaRPr lang="en-US" sz="2400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1907540" y="4545330"/>
            <a:ext cx="3212465" cy="2026285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0"/>
          </a:gradFill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Phát triển chức năng gợi ý các sự kiện liên quan</a:t>
            </a:r>
            <a:endParaRPr lang="en-US" sz="2400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7131050" y="4545330"/>
            <a:ext cx="3212465" cy="2026285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0"/>
          </a:gradFill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Xây dựng tính năng chống bot gian lận mua vé </a:t>
            </a:r>
            <a:endParaRPr lang="en-US" sz="2400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3" name="Text Box 12"/>
          <p:cNvSpPr txBox="1"/>
          <p:nvPr/>
        </p:nvSpPr>
        <p:spPr>
          <a:xfrm>
            <a:off x="838200" y="1101090"/>
            <a:ext cx="4064000" cy="5530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3000">
                <a:solidFill>
                  <a:schemeClr val="accent1">
                    <a:lumMod val="60000"/>
                    <a:lumOff val="4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Hướng phát triển</a:t>
            </a:r>
            <a:endParaRPr lang="en-US" sz="3000">
              <a:solidFill>
                <a:schemeClr val="accent1">
                  <a:lumMod val="60000"/>
                  <a:lumOff val="40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Freeform 2"/>
          <p:cNvSpPr/>
          <p:nvPr/>
        </p:nvSpPr>
        <p:spPr>
          <a:xfrm>
            <a:off x="9923492" y="-1612581"/>
            <a:ext cx="4561018" cy="4552307"/>
          </a:xfrm>
          <a:custGeom>
            <a:avLst/>
            <a:gdLst/>
            <a:ahLst/>
            <a:cxnLst/>
            <a:rect l="l" t="t" r="r" b="b"/>
            <a:pathLst>
              <a:path w="4561018" h="4552307">
                <a:moveTo>
                  <a:pt x="0" y="0"/>
                </a:moveTo>
                <a:lnTo>
                  <a:pt x="4561018" y="0"/>
                </a:lnTo>
                <a:lnTo>
                  <a:pt x="4561018" y="4552308"/>
                </a:lnTo>
                <a:lnTo>
                  <a:pt x="0" y="4552308"/>
                </a:lnTo>
                <a:lnTo>
                  <a:pt x="0" y="0"/>
                </a:lnTo>
                <a:close/>
              </a:path>
            </a:pathLst>
          </a:custGeom>
          <a:blipFill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13" name="Freeform 2"/>
          <p:cNvSpPr/>
          <p:nvPr/>
        </p:nvSpPr>
        <p:spPr>
          <a:xfrm>
            <a:off x="-1313790" y="4266232"/>
            <a:ext cx="3708482" cy="4259981"/>
          </a:xfrm>
          <a:custGeom>
            <a:avLst/>
            <a:gdLst/>
            <a:ahLst/>
            <a:cxnLst/>
            <a:rect l="l" t="t" r="r" b="b"/>
            <a:pathLst>
              <a:path w="3708482" h="4259981">
                <a:moveTo>
                  <a:pt x="0" y="0"/>
                </a:moveTo>
                <a:lnTo>
                  <a:pt x="3708482" y="0"/>
                </a:lnTo>
                <a:lnTo>
                  <a:pt x="3708482" y="4259980"/>
                </a:lnTo>
                <a:lnTo>
                  <a:pt x="0" y="425998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3"/>
          <p:cNvSpPr/>
          <p:nvPr/>
        </p:nvSpPr>
        <p:spPr>
          <a:xfrm flipV="1">
            <a:off x="-4255229" y="-1592642"/>
            <a:ext cx="6649967" cy="3324983"/>
          </a:xfrm>
          <a:custGeom>
            <a:avLst/>
            <a:gdLst/>
            <a:ahLst/>
            <a:cxnLst/>
            <a:rect l="l" t="t" r="r" b="b"/>
            <a:pathLst>
              <a:path w="6649967" h="3324983">
                <a:moveTo>
                  <a:pt x="0" y="3324984"/>
                </a:moveTo>
                <a:lnTo>
                  <a:pt x="6649966" y="3324984"/>
                </a:lnTo>
                <a:lnTo>
                  <a:pt x="6649966" y="0"/>
                </a:lnTo>
                <a:lnTo>
                  <a:pt x="0" y="0"/>
                </a:lnTo>
                <a:lnTo>
                  <a:pt x="0" y="3324984"/>
                </a:lnTo>
                <a:close/>
              </a:path>
            </a:pathLst>
          </a:custGeom>
          <a:blipFill>
            <a:blip r:embed="rId5">
              <a:alphaModFix amt="27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5"/>
          <p:cNvSpPr/>
          <p:nvPr/>
        </p:nvSpPr>
        <p:spPr>
          <a:xfrm>
            <a:off x="9923729" y="4825365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alphaModFix amt="14000"/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6"/>
          <p:cNvSpPr/>
          <p:nvPr/>
        </p:nvSpPr>
        <p:spPr>
          <a:xfrm>
            <a:off x="-56905" y="-3341395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alphaModFix amt="27000"/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</p:sp>
      <p:sp>
        <p:nvSpPr>
          <p:cNvPr id="10" name="Rounded Rectangle 9"/>
          <p:cNvSpPr/>
          <p:nvPr/>
        </p:nvSpPr>
        <p:spPr>
          <a:xfrm>
            <a:off x="2019935" y="1732280"/>
            <a:ext cx="8152765" cy="3232150"/>
          </a:xfrm>
          <a:prstGeom prst="roundRect">
            <a:avLst/>
          </a:prstGeom>
          <a:noFill/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2400">
                <a:solidFill>
                  <a:schemeClr val="accent1">
                    <a:lumMod val="75000"/>
                  </a:schemeClr>
                </a:solidFill>
                <a:effectLst/>
                <a:latin typeface="Times New Roman" panose="02020603050405020304" charset="0"/>
                <a:cs typeface="Times New Roman" panose="02020603050405020304" charset="0"/>
                <a:sym typeface="+mn-ea"/>
              </a:rPr>
              <a:t>CẢM ƠN THẦY CÔ VÀ CÁC BẠN ĐÃ LẮNG NGHE !</a:t>
            </a:r>
            <a:endParaRPr lang="en-US" sz="2400">
              <a:solidFill>
                <a:schemeClr val="accent1">
                  <a:lumMod val="75000"/>
                </a:schemeClr>
              </a:solidFill>
              <a:effectLst/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1534</Words>
  <Application>WPS Sheets</Application>
  <PresentationFormat>Widescreen</PresentationFormat>
  <Paragraphs>85</Paragraphs>
  <Slides>11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24" baseType="lpstr">
      <vt:lpstr>Arial</vt:lpstr>
      <vt:lpstr>SimSun</vt:lpstr>
      <vt:lpstr>Wingdings</vt:lpstr>
      <vt:lpstr>Times New Roman</vt:lpstr>
      <vt:lpstr>Wingdings</vt:lpstr>
      <vt:lpstr>Microsoft YaHei</vt:lpstr>
      <vt:lpstr>汉仪旗黑</vt:lpstr>
      <vt:lpstr>Arial Unicode MS</vt:lpstr>
      <vt:lpstr>汉仪书宋二KW</vt:lpstr>
      <vt:lpstr>Calibri Light</vt:lpstr>
      <vt:lpstr>Helvetica Neue</vt:lpstr>
      <vt:lpstr>Calibri</vt:lpstr>
      <vt:lpstr>Office Theme</vt:lpstr>
      <vt:lpstr>PowerPoint 演示文稿</vt:lpstr>
      <vt:lpstr>NỘI DUNG</vt:lpstr>
      <vt:lpstr>1. MỤC TIÊU</vt:lpstr>
      <vt:lpstr>2. CÔNG NGHỆ SỬ DỤNG</vt:lpstr>
      <vt:lpstr>3. PHÂN TÍCH VÀ THIẾT KẾ</vt:lpstr>
      <vt:lpstr>3. PHÂN TÍCH VÀ THIẾT KẾ</vt:lpstr>
      <vt:lpstr>3. PHÂN TÍCH VÀ THIẾT KẾ</vt:lpstr>
      <vt:lpstr>4.KẾT LUẬN VÀ HƯỚNG PHÁT TRIỂN</vt:lpstr>
      <vt:lpstr>4.KẾT LUẬN VÀ HƯỚNG PHÁT TRIỂN</vt:lpstr>
      <vt:lpstr>4.KẾT LUẬN VÀ HƯỚNG PHÁT TRIỂN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WPS Presentation</dc:title>
  <dc:creator>admin</dc:creator>
  <cp:lastModifiedBy>admin</cp:lastModifiedBy>
  <cp:revision>109</cp:revision>
  <dcterms:created xsi:type="dcterms:W3CDTF">2026-01-18T07:39:56Z</dcterms:created>
  <dcterms:modified xsi:type="dcterms:W3CDTF">2026-01-18T07:39:56Z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7C2B36947F4BC9E8CB2E676902F427D4_41</vt:lpwstr>
  </property>
  <property fmtid="{D5CDD505-2E9C-101B-9397-08002B2CF9AE}" pid="3" name="KSOProductBuildVer">
    <vt:lpwstr>1033-12.1.23152.23152</vt:lpwstr>
  </property>
</Properties>
</file>