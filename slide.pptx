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5" r:id="rId8"/>
    <p:sldId id="261" r:id="rId9"/>
    <p:sldId id="266" r:id="rId10"/>
    <p:sldId id="262" r:id="rId11"/>
    <p:sldId id="267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sv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3.sv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svg"/><Relationship Id="rId3" Type="http://schemas.openxmlformats.org/officeDocument/2006/relationships/image" Target="../media/image7.png"/><Relationship Id="rId2" Type="http://schemas.openxmlformats.org/officeDocument/2006/relationships/image" Target="../media/image3.sv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5.sv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" name="Picture 3" descr="logostu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520" y="155575"/>
            <a:ext cx="1548130" cy="11703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590165" y="156210"/>
            <a:ext cx="9364980" cy="117094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p>
            <a:pPr algn="ctr">
              <a:lnSpc>
                <a:spcPct val="150000"/>
              </a:lnSpc>
            </a:pPr>
            <a:r>
              <a:rPr lang="en-US" sz="3200" b="1">
                <a:ln/>
                <a:solidFill>
                  <a:schemeClr val="accent1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TRƯỜNG ĐẠI HỌC CÔNG NGHỆ  SÀI GÒN</a:t>
            </a:r>
            <a:endParaRPr lang="en-US" sz="3200" b="1">
              <a:ln/>
              <a:solidFill>
                <a:schemeClr val="accent1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  <a:latin typeface="Times New Roman" panose="02020603050405020304" charset="0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sz="3200" b="1">
                <a:ln/>
                <a:solidFill>
                  <a:schemeClr val="accent1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Times New Roman" panose="02020603050405020304" charset="0"/>
                <a:cs typeface="Times New Roman" panose="02020603050405020304" charset="0"/>
              </a:rPr>
              <a:t>KHOA CÔNG NGHỆ THÔNG TIN</a:t>
            </a:r>
            <a:endParaRPr lang="en-US" sz="3200" b="1">
              <a:ln/>
              <a:solidFill>
                <a:schemeClr val="accent1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4520" y="2145030"/>
            <a:ext cx="11086465" cy="137414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>
            <a:solidFill>
              <a:schemeClr val="bg2">
                <a:lumMod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400" cap="all">
                <a:solidFill>
                  <a:schemeClr val="tx1"/>
                </a:solidFill>
                <a:uFillTx/>
                <a:latin typeface="Times New Roman" panose="02020603050405020304" charset="0"/>
                <a:cs typeface="Times New Roman" panose="02020603050405020304" charset="0"/>
              </a:rPr>
              <a:t>XÂY DỰNG WEBSITE BÁN VÉ SỰ KIỆN</a:t>
            </a:r>
            <a:endParaRPr lang="en-US" sz="4400" cap="all">
              <a:solidFill>
                <a:schemeClr val="tx1"/>
              </a:solidFill>
              <a:uFillTx/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604520" y="4145280"/>
            <a:ext cx="26130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Giảng viên hướng dẫn: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604520" y="4715510"/>
            <a:ext cx="26130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Sinh viên thực hiện: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604520" y="5285740"/>
            <a:ext cx="261302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Mã số sinh viên: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Text Box 10"/>
          <p:cNvSpPr txBox="1"/>
          <p:nvPr/>
        </p:nvSpPr>
        <p:spPr>
          <a:xfrm>
            <a:off x="3470275" y="414528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TRẦN VŨ HOÀNG ƯNG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3470275" y="471551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VÕ MINH THUẬN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Freeform 2"/>
          <p:cNvSpPr/>
          <p:nvPr/>
        </p:nvSpPr>
        <p:spPr>
          <a:xfrm>
            <a:off x="5653405" y="1951355"/>
            <a:ext cx="12322810" cy="10460990"/>
          </a:xfrm>
          <a:custGeom>
            <a:avLst/>
            <a:gdLst/>
            <a:ahLst/>
            <a:cxnLst/>
            <a:rect l="l" t="t" r="r" b="b"/>
            <a:pathLst>
              <a:path w="11810023" h="10461246">
                <a:moveTo>
                  <a:pt x="0" y="0"/>
                </a:moveTo>
                <a:lnTo>
                  <a:pt x="11810023" y="0"/>
                </a:lnTo>
                <a:lnTo>
                  <a:pt x="11810023" y="10461246"/>
                </a:lnTo>
                <a:lnTo>
                  <a:pt x="0" y="104612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p>
            <a:endParaRPr lang="en-US"/>
          </a:p>
        </p:txBody>
      </p:sp>
      <p:sp>
        <p:nvSpPr>
          <p:cNvPr id="15" name="Text Box 14"/>
          <p:cNvSpPr txBox="1"/>
          <p:nvPr/>
        </p:nvSpPr>
        <p:spPr>
          <a:xfrm>
            <a:off x="3470275" y="529145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charset="0"/>
                <a:cs typeface="Times New Roman" panose="02020603050405020304" charset="0"/>
              </a:rPr>
              <a:t>DH52108656</a:t>
            </a:r>
            <a:endParaRPr 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Freeform 3"/>
          <p:cNvSpPr/>
          <p:nvPr/>
        </p:nvSpPr>
        <p:spPr>
          <a:xfrm>
            <a:off x="-5628800" y="3890419"/>
            <a:ext cx="10663314" cy="2296259"/>
          </a:xfrm>
          <a:custGeom>
            <a:avLst/>
            <a:gdLst/>
            <a:ahLst/>
            <a:cxnLst/>
            <a:rect l="l" t="t" r="r" b="b"/>
            <a:pathLst>
              <a:path w="10663314" h="2296259">
                <a:moveTo>
                  <a:pt x="0" y="0"/>
                </a:moveTo>
                <a:lnTo>
                  <a:pt x="10663314" y="0"/>
                </a:lnTo>
                <a:lnTo>
                  <a:pt x="10663314" y="2296259"/>
                </a:lnTo>
                <a:lnTo>
                  <a:pt x="0" y="2296259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alphaModFix amt="1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193120" y="338229"/>
            <a:ext cx="10663314" cy="2296259"/>
          </a:xfrm>
          <a:custGeom>
            <a:avLst/>
            <a:gdLst/>
            <a:ahLst/>
            <a:cxnLst/>
            <a:rect l="l" t="t" r="r" b="b"/>
            <a:pathLst>
              <a:path w="10663314" h="2296259">
                <a:moveTo>
                  <a:pt x="0" y="0"/>
                </a:moveTo>
                <a:lnTo>
                  <a:pt x="10663314" y="0"/>
                </a:lnTo>
                <a:lnTo>
                  <a:pt x="10663314" y="2296259"/>
                </a:lnTo>
                <a:lnTo>
                  <a:pt x="0" y="2296259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alphaModFix amt="1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Flowchart: Alternate Process 1"/>
          <p:cNvSpPr/>
          <p:nvPr/>
        </p:nvSpPr>
        <p:spPr>
          <a:xfrm>
            <a:off x="2508885" y="338455"/>
            <a:ext cx="7174230" cy="1266825"/>
          </a:xfrm>
          <a:prstGeom prst="flowChartAlternateProcess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sz="3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1.  Lý do chọn đề tài</a:t>
            </a:r>
            <a:endParaRPr lang="en-US" sz="36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Flowchart: Alternate Process 5"/>
          <p:cNvSpPr/>
          <p:nvPr/>
        </p:nvSpPr>
        <p:spPr>
          <a:xfrm>
            <a:off x="2508885" y="2001520"/>
            <a:ext cx="7174230" cy="1266825"/>
          </a:xfrm>
          <a:prstGeom prst="flowChartAlternateProcess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sz="3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2. Công nghệ sử dụng</a:t>
            </a:r>
            <a:endParaRPr lang="en-US" sz="36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Flowchart: Alternate Process 6"/>
          <p:cNvSpPr/>
          <p:nvPr/>
        </p:nvSpPr>
        <p:spPr>
          <a:xfrm>
            <a:off x="2508885" y="3664585"/>
            <a:ext cx="7174230" cy="1266825"/>
          </a:xfrm>
          <a:prstGeom prst="flowChartAlternateProcess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sz="3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3. Phân tích và thiết kế</a:t>
            </a:r>
            <a:endParaRPr lang="en-US" sz="36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Flowchart: Alternate Process 7"/>
          <p:cNvSpPr/>
          <p:nvPr/>
        </p:nvSpPr>
        <p:spPr>
          <a:xfrm>
            <a:off x="2508885" y="5327650"/>
            <a:ext cx="7174230" cy="1266825"/>
          </a:xfrm>
          <a:prstGeom prst="flowChartAlternateProcess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sz="36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4. Kết quả và hướng phát triển</a:t>
            </a:r>
            <a:endParaRPr lang="en-US" sz="36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Freeform 2"/>
          <p:cNvSpPr/>
          <p:nvPr/>
        </p:nvSpPr>
        <p:spPr>
          <a:xfrm rot="10800000">
            <a:off x="-5892800" y="-2558415"/>
            <a:ext cx="12322810" cy="10460990"/>
          </a:xfrm>
          <a:custGeom>
            <a:avLst/>
            <a:gdLst/>
            <a:ahLst/>
            <a:cxnLst/>
            <a:rect l="l" t="t" r="r" b="b"/>
            <a:pathLst>
              <a:path w="11810023" h="10461246">
                <a:moveTo>
                  <a:pt x="0" y="0"/>
                </a:moveTo>
                <a:lnTo>
                  <a:pt x="11810023" y="0"/>
                </a:lnTo>
                <a:lnTo>
                  <a:pt x="11810023" y="10461246"/>
                </a:lnTo>
                <a:lnTo>
                  <a:pt x="0" y="1046124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Lý do chọn đề tài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838200" y="1690370"/>
            <a:ext cx="10515600" cy="4178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algn="just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Các sự kiện v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hóa, giải trí nh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concert, workshop, triển lãm, thể thao ngày càng phát triển và thu hút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ông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ảo ng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ời tham gia.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704020202020204" pitchFamily="34" charset="0"/>
              <a:buChar char="•"/>
            </a:pP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Hiện nay việc bán vé chủ yếu thông qua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ại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hoặc mạng xã hội vẫn còn nhiều hạn chế nh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khó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, thiếu minh bạch trong thanh toán và ch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a mang lại trải nghiệm mua vé thuận tiện cho ng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ời dùng.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704020202020204" pitchFamily="34" charset="0"/>
              <a:buChar char="•"/>
            </a:pP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Vì vậy, việc xây dựng một website bán vé sự kiện là cần thiết nhằm cung cấp nền tảng mua vé nhanh chóng, ổn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ịnh, minh bạch và hỗ trợ nhà tổ chức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vé, khách tham dự hiệu quả hơn.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Freeform 2"/>
          <p:cNvSpPr/>
          <p:nvPr/>
        </p:nvSpPr>
        <p:spPr>
          <a:xfrm>
            <a:off x="5876290" y="-554990"/>
            <a:ext cx="12322810" cy="10460990"/>
          </a:xfrm>
          <a:custGeom>
            <a:avLst/>
            <a:gdLst/>
            <a:ahLst/>
            <a:cxnLst/>
            <a:rect l="l" t="t" r="r" b="b"/>
            <a:pathLst>
              <a:path w="11810023" h="10461246">
                <a:moveTo>
                  <a:pt x="0" y="0"/>
                </a:moveTo>
                <a:lnTo>
                  <a:pt x="11810023" y="0"/>
                </a:lnTo>
                <a:lnTo>
                  <a:pt x="11810023" y="10461246"/>
                </a:lnTo>
                <a:lnTo>
                  <a:pt x="0" y="10461246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6280" y="109855"/>
            <a:ext cx="10637520" cy="1325880"/>
          </a:xfrm>
        </p:spPr>
        <p:txBody>
          <a:bodyPr/>
          <a:p>
            <a:r>
              <a:rPr lang="en-US"/>
              <a:t>Công nghệ sử dụng</a:t>
            </a:r>
            <a:endParaRPr lang="en-US"/>
          </a:p>
        </p:txBody>
      </p:sp>
      <p:pic>
        <p:nvPicPr>
          <p:cNvPr id="9" name="Picture 8" descr="logonodej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872" b="26326"/>
          <a:stretch>
            <a:fillRect/>
          </a:stretch>
        </p:blipFill>
        <p:spPr>
          <a:xfrm>
            <a:off x="726440" y="3411855"/>
            <a:ext cx="2286000" cy="1096042"/>
          </a:xfrm>
          <a:prstGeom prst="rect">
            <a:avLst/>
          </a:prstGeom>
        </p:spPr>
      </p:pic>
      <p:pic>
        <p:nvPicPr>
          <p:cNvPr id="11" name="Picture 10" descr="logo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915" y="5198110"/>
            <a:ext cx="2286000" cy="1185508"/>
          </a:xfrm>
          <a:prstGeom prst="rect">
            <a:avLst/>
          </a:prstGeom>
        </p:spPr>
      </p:pic>
      <p:pic>
        <p:nvPicPr>
          <p:cNvPr id="12" name="Picture 11" descr="logo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280" y="1435735"/>
            <a:ext cx="2286000" cy="128587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69765" y="1496060"/>
            <a:ext cx="7162800" cy="11817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 anchorCtr="0"/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Xây dựng website dạng SPA, thao tác m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ợt và ít tải lại trang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Dễ mở rộng sang ứng dụng di 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ộng với React Native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469765" y="3355975"/>
            <a:ext cx="7162800" cy="11817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 anchorCtr="0"/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Xử l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nhanh, phù hợp cho hệ thống nhiều ng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ời dùng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Dễ phát triển và tích hợp các dịch vụ nh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thanh toán, email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469765" y="5215255"/>
            <a:ext cx="7162800" cy="118173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t" anchorCtr="0"/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Quản l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dữ liệu quan hệ chặt chẽ, 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ảm bảo tính toàn vẹn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285750" indent="-285750" algn="l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en-US" altLang="en-US" sz="20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Phù hợp cho hệ thống có nhiều bảng và mối quan hệ</a:t>
            </a:r>
            <a:endParaRPr lang="en-US" altLang="en-US" sz="20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2230"/>
            <a:ext cx="10515600" cy="1325563"/>
          </a:xfrm>
        </p:spPr>
        <p:txBody>
          <a:bodyPr/>
          <a:p>
            <a:r>
              <a:rPr lang="en-US"/>
              <a:t>Sơ đồ usecase tổng quát</a:t>
            </a:r>
            <a:endParaRPr lang="en-US"/>
          </a:p>
        </p:txBody>
      </p:sp>
      <p:pic>
        <p:nvPicPr>
          <p:cNvPr id="82" name="Picture 82" descr="Ảnh màn hình 2025-12-10 lúc 10.15.14 S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895" y="1101090"/>
            <a:ext cx="5257800" cy="5610225"/>
          </a:xfrm>
          <a:prstGeom prst="rect">
            <a:avLst/>
          </a:prstGeom>
        </p:spPr>
      </p:pic>
      <p:sp>
        <p:nvSpPr>
          <p:cNvPr id="5" name="Freeform 3"/>
          <p:cNvSpPr/>
          <p:nvPr/>
        </p:nvSpPr>
        <p:spPr>
          <a:xfrm>
            <a:off x="6095205" y="3978049"/>
            <a:ext cx="10663314" cy="2296259"/>
          </a:xfrm>
          <a:custGeom>
            <a:avLst/>
            <a:gdLst/>
            <a:ahLst/>
            <a:cxnLst/>
            <a:rect l="l" t="t" r="r" b="b"/>
            <a:pathLst>
              <a:path w="10663314" h="2296259">
                <a:moveTo>
                  <a:pt x="0" y="0"/>
                </a:moveTo>
                <a:lnTo>
                  <a:pt x="10663314" y="0"/>
                </a:lnTo>
                <a:lnTo>
                  <a:pt x="10663314" y="2296259"/>
                </a:lnTo>
                <a:lnTo>
                  <a:pt x="0" y="2296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 Box 3"/>
          <p:cNvSpPr txBox="1"/>
          <p:nvPr/>
        </p:nvSpPr>
        <p:spPr>
          <a:xfrm>
            <a:off x="7572375" y="1101090"/>
            <a:ext cx="37814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00000"/>
              </a:lnSpc>
            </a:pPr>
            <a:r>
              <a:rPr lang="en-US" sz="2800">
                <a:latin typeface="Times New Roman" panose="02020603050405020304" charset="0"/>
                <a:cs typeface="Times New Roman" panose="02020603050405020304" charset="0"/>
              </a:rPr>
              <a:t>Các người dùng:</a:t>
            </a:r>
            <a:endParaRPr lang="en-US" sz="2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7572375" y="1863725"/>
            <a:ext cx="3589655" cy="459740"/>
            <a:chOff x="12227" y="3287"/>
            <a:chExt cx="5653" cy="724"/>
          </a:xfrm>
        </p:grpSpPr>
        <p:sp>
          <p:nvSpPr>
            <p:cNvPr id="6" name="Oval 5"/>
            <p:cNvSpPr/>
            <p:nvPr/>
          </p:nvSpPr>
          <p:spPr>
            <a:xfrm>
              <a:off x="12227" y="3287"/>
              <a:ext cx="720" cy="7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 anchorCtr="0"/>
            <a:p>
              <a:pPr algn="ctr"/>
              <a:r>
                <a:rPr lang="en-US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1</a:t>
              </a:r>
              <a:endParaRPr lang="en-US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13258" y="3287"/>
              <a:ext cx="4622" cy="7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r>
                <a:rPr lang="en-US" sz="2400">
                  <a:latin typeface="Times New Roman" panose="02020603050405020304" charset="0"/>
                  <a:cs typeface="Times New Roman" panose="02020603050405020304" charset="0"/>
                </a:rPr>
                <a:t>Người mua vé</a:t>
              </a:r>
              <a:endParaRPr lang="en-US" sz="24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7572375" y="2799715"/>
            <a:ext cx="3589655" cy="459740"/>
            <a:chOff x="12227" y="3287"/>
            <a:chExt cx="5653" cy="724"/>
          </a:xfrm>
        </p:grpSpPr>
        <p:sp>
          <p:nvSpPr>
            <p:cNvPr id="22" name="Oval 21"/>
            <p:cNvSpPr/>
            <p:nvPr/>
          </p:nvSpPr>
          <p:spPr>
            <a:xfrm>
              <a:off x="12227" y="3287"/>
              <a:ext cx="720" cy="7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 anchorCtr="0"/>
            <a:p>
              <a:pPr algn="ctr"/>
              <a:r>
                <a:rPr lang="en-US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2</a:t>
              </a:r>
              <a:endParaRPr lang="en-US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Text Box 22"/>
            <p:cNvSpPr txBox="1"/>
            <p:nvPr/>
          </p:nvSpPr>
          <p:spPr>
            <a:xfrm>
              <a:off x="13258" y="3287"/>
              <a:ext cx="4622" cy="7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r>
                <a:rPr lang="en-US" sz="2400">
                  <a:latin typeface="Times New Roman" panose="02020603050405020304" charset="0"/>
                  <a:cs typeface="Times New Roman" panose="02020603050405020304" charset="0"/>
                </a:rPr>
                <a:t>Người bán vé</a:t>
              </a:r>
              <a:endParaRPr lang="en-US" sz="24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572375" y="3735705"/>
            <a:ext cx="3589655" cy="459740"/>
            <a:chOff x="12227" y="3287"/>
            <a:chExt cx="5653" cy="724"/>
          </a:xfrm>
        </p:grpSpPr>
        <p:sp>
          <p:nvSpPr>
            <p:cNvPr id="25" name="Oval 24"/>
            <p:cNvSpPr/>
            <p:nvPr/>
          </p:nvSpPr>
          <p:spPr>
            <a:xfrm>
              <a:off x="12227" y="3287"/>
              <a:ext cx="720" cy="72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 anchorCtr="0"/>
            <a:p>
              <a:pPr algn="ctr"/>
              <a:r>
                <a:rPr lang="en-US" b="1">
                  <a:solidFill>
                    <a:schemeClr val="tx1"/>
                  </a:solidFill>
                  <a:latin typeface="Times New Roman" panose="02020603050405020304" charset="0"/>
                  <a:cs typeface="Times New Roman" panose="02020603050405020304" charset="0"/>
                </a:rPr>
                <a:t>3</a:t>
              </a:r>
              <a:endParaRPr lang="en-US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6" name="Text Box 25"/>
            <p:cNvSpPr txBox="1"/>
            <p:nvPr/>
          </p:nvSpPr>
          <p:spPr>
            <a:xfrm>
              <a:off x="13258" y="3287"/>
              <a:ext cx="4622" cy="725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r>
                <a:rPr lang="en-US" sz="2400">
                  <a:latin typeface="Times New Roman" panose="02020603050405020304" charset="0"/>
                  <a:cs typeface="Times New Roman" panose="02020603050405020304" charset="0"/>
                </a:rPr>
                <a:t>Quản trị viên</a:t>
              </a:r>
              <a:endParaRPr lang="en-US" sz="24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2230"/>
            <a:ext cx="10515600" cy="1325563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Sơ đồ tuần tự và sơ đồ hoạt động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Freeform 3"/>
          <p:cNvSpPr/>
          <p:nvPr/>
        </p:nvSpPr>
        <p:spPr>
          <a:xfrm>
            <a:off x="-2893220" y="1387884"/>
            <a:ext cx="10663314" cy="2296259"/>
          </a:xfrm>
          <a:custGeom>
            <a:avLst/>
            <a:gdLst/>
            <a:ahLst/>
            <a:cxnLst/>
            <a:rect l="l" t="t" r="r" b="b"/>
            <a:pathLst>
              <a:path w="10663314" h="2296259">
                <a:moveTo>
                  <a:pt x="0" y="0"/>
                </a:moveTo>
                <a:lnTo>
                  <a:pt x="10663314" y="0"/>
                </a:lnTo>
                <a:lnTo>
                  <a:pt x="10663314" y="2296259"/>
                </a:lnTo>
                <a:lnTo>
                  <a:pt x="0" y="2296259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alphaModFix amt="1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pic>
        <p:nvPicPr>
          <p:cNvPr id="101" name="Picture 101" descr="Ảnh màn hình 2025-12-11 lúc 2.28.37 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" y="1132840"/>
            <a:ext cx="6014720" cy="5381625"/>
          </a:xfrm>
          <a:prstGeom prst="rect">
            <a:avLst/>
          </a:prstGeom>
        </p:spPr>
      </p:pic>
      <p:pic>
        <p:nvPicPr>
          <p:cNvPr id="124" name="Picture 124" descr="Ảnh màn hình 2025-12-12 lúc 8.41.23 S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645" y="1132840"/>
            <a:ext cx="6015355" cy="53809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Cơ sở dữ liệu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9" name="Picture 49" descr="Ảnh màn hình 2025-12-10 lúc 10.02.17 S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553210"/>
            <a:ext cx="10748010" cy="5140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Hạn chế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Kết quả</a:t>
            </a:r>
            <a:endParaRPr lang="en-US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/>
              <a:t>Hướng phát triển</a:t>
            </a:r>
            <a:endParaRPr lang="en-US" altLang="en-US"/>
          </a:p>
        </p:txBody>
      </p:sp>
      <p:sp>
        <p:nvSpPr>
          <p:cNvPr id="3" name="Rounded Rectangle 2"/>
          <p:cNvSpPr/>
          <p:nvPr/>
        </p:nvSpPr>
        <p:spPr>
          <a:xfrm>
            <a:off x="1036955" y="2250440"/>
            <a:ext cx="3212465" cy="202628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Hỗ trợ sản phẩm trên thiết bị di động</a:t>
            </a:r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4807585" y="2250440"/>
            <a:ext cx="3212465" cy="202628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Tối ưu hiệu năng và khả năng chịu tải của hệ thống </a:t>
            </a:r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8578215" y="2250440"/>
            <a:ext cx="3212465" cy="202628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Tích hợp thêm chức năng check-in và chống bot</a:t>
            </a:r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</Words>
  <Application>WPS Sheets</Application>
  <PresentationFormat>Widescreen</PresentationFormat>
  <Paragraphs>76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Microsoft YaHei</vt:lpstr>
      <vt:lpstr>汉仪旗黑</vt:lpstr>
      <vt:lpstr>Arial Unicode MS</vt:lpstr>
      <vt:lpstr>Calibri Light</vt:lpstr>
      <vt:lpstr>Helvetica Neue</vt:lpstr>
      <vt:lpstr>Calibri</vt:lpstr>
      <vt:lpstr>汉仪书宋二KW</vt:lpstr>
      <vt:lpstr>Office Theme</vt:lpstr>
      <vt:lpstr>PowerPoint 演示文稿</vt:lpstr>
      <vt:lpstr>PowerPoint 演示文稿</vt:lpstr>
      <vt:lpstr>Lý do chọn đề tài</vt:lpstr>
      <vt:lpstr>Công nghệ sử dụng</vt:lpstr>
      <vt:lpstr>Phân tích thiết kế </vt:lpstr>
      <vt:lpstr>Phân tích thiết kế </vt:lpstr>
      <vt:lpstr>Phân tích thiết kế</vt:lpstr>
      <vt:lpstr>Cơ sở dữ liệu</vt:lpstr>
      <vt:lpstr>Kết quả và hướng phát triển</vt:lpstr>
      <vt:lpstr>Kết quả và hướng phát triển</vt:lpstr>
      <vt:lpstr>Cảm ơn và demo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admin</dc:creator>
  <cp:lastModifiedBy>Thuận Võ</cp:lastModifiedBy>
  <cp:revision>34</cp:revision>
  <dcterms:created xsi:type="dcterms:W3CDTF">2026-01-15T10:41:19Z</dcterms:created>
  <dcterms:modified xsi:type="dcterms:W3CDTF">2026-01-15T10:41:19Z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7C2B36947F4BC9E8CB2E676902F427D4_41</vt:lpwstr>
  </property>
  <property fmtid="{D5CDD505-2E9C-101B-9397-08002B2CF9AE}" pid="3" name="KSOProductBuildVer">
    <vt:lpwstr>1033-12.1.23152.23152</vt:lpwstr>
  </property>
</Properties>
</file>