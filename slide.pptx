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5" r:id="rId8"/>
    <p:sldId id="261" r:id="rId9"/>
    <p:sldId id="262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logost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20" y="155575"/>
            <a:ext cx="1548130" cy="11703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590165" y="156210"/>
            <a:ext cx="9364980" cy="11709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TRƯỜNG ĐẠI HỌC CÔNG NGHỆ  SÀI GÒN</a:t>
            </a:r>
            <a:endParaRPr lang="en-US" sz="3200" b="1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sz="3200" b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KHOA CÔNG NGHỆ THÔNG TIN</a:t>
            </a:r>
            <a:endParaRPr lang="en-US" sz="3200" b="1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4520" y="2145030"/>
            <a:ext cx="11086465" cy="137414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400" cap="all">
                <a:solidFill>
                  <a:schemeClr val="bg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XÂY DỰNG WEBSITE BÁN VÉ SỰ KIỆN</a:t>
            </a:r>
            <a:endParaRPr lang="en-US" sz="4400" cap="all">
              <a:solidFill>
                <a:schemeClr val="bg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4520" y="414528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Giảng viên hướng dẫn: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04520" y="471551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Sinh viên thực hiện: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4520" y="5285740"/>
            <a:ext cx="313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Mã số sinh viên: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413885" y="41395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TRẦN VŨ HOÀNG ƯNG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413885" y="47097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VÕ MINH THUẬN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413885" y="52857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DH52108656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Freeform 9"/>
          <p:cNvSpPr/>
          <p:nvPr/>
        </p:nvSpPr>
        <p:spPr>
          <a:xfrm>
            <a:off x="554355" y="34290"/>
            <a:ext cx="4566285" cy="4020185"/>
          </a:xfrm>
          <a:custGeom>
            <a:avLst/>
            <a:gdLst/>
            <a:ahLst/>
            <a:cxnLst/>
            <a:rect l="l" t="t" r="r" b="b"/>
            <a:pathLst>
              <a:path w="2827361" h="2368013">
                <a:moveTo>
                  <a:pt x="0" y="0"/>
                </a:moveTo>
                <a:lnTo>
                  <a:pt x="2827360" y="0"/>
                </a:lnTo>
                <a:lnTo>
                  <a:pt x="2827360" y="2368013"/>
                </a:lnTo>
                <a:lnTo>
                  <a:pt x="0" y="236801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NỘI DUNG</a:t>
            </a:r>
            <a:endParaRPr lang="en-US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59585" y="1691005"/>
            <a:ext cx="8472805" cy="10350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1. Mục tiêu của đề tài</a:t>
            </a:r>
            <a:endParaRPr lang="en-US"/>
          </a:p>
        </p:txBody>
      </p:sp>
      <p:sp>
        <p:nvSpPr>
          <p:cNvPr id="17" name="Freeform 4"/>
          <p:cNvSpPr/>
          <p:nvPr/>
        </p:nvSpPr>
        <p:spPr>
          <a:xfrm>
            <a:off x="9724738" y="3428912"/>
            <a:ext cx="1959026" cy="3145519"/>
          </a:xfrm>
          <a:custGeom>
            <a:avLst/>
            <a:gdLst/>
            <a:ahLst/>
            <a:cxnLst/>
            <a:rect l="l" t="t" r="r" b="b"/>
            <a:pathLst>
              <a:path w="1959026" h="3145519">
                <a:moveTo>
                  <a:pt x="0" y="0"/>
                </a:moveTo>
                <a:lnTo>
                  <a:pt x="1959026" y="0"/>
                </a:lnTo>
                <a:lnTo>
                  <a:pt x="1959026" y="3145520"/>
                </a:lnTo>
                <a:lnTo>
                  <a:pt x="0" y="314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Rounded Rectangle 12"/>
          <p:cNvSpPr/>
          <p:nvPr/>
        </p:nvSpPr>
        <p:spPr>
          <a:xfrm>
            <a:off x="1759585" y="3002280"/>
            <a:ext cx="8472805" cy="10350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2. Công nghệ sử dụng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759585" y="4313555"/>
            <a:ext cx="8472805" cy="10350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3. Phân tích và thiết kế</a:t>
            </a:r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759585" y="5624830"/>
            <a:ext cx="8472805" cy="10350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4. Kết luận và hướng phát triển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MỤC TIÊU</a:t>
            </a:r>
            <a:endParaRPr lang="en-US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38200" y="1690370"/>
            <a:ext cx="10515600" cy="417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Cung cấp kênh mua vé trực tuyến nhanh chóng và tiện lợi.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" altLang="en-US" sz="24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ảm bảo tính minh bạch trong quá trình mua và thanh toán vé.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Tăng tính chính xác, giảm sai sót trong việc phát hành và kiểm soát vé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Hỗ trợ nhà tổ chức sự kiện quản l</a:t>
            </a:r>
            <a:r>
              <a:rPr lang="" altLang="en-US" sz="240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 vé và </a:t>
            </a:r>
            <a:r>
              <a:rPr lang="" altLang="en-US" sz="240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ơn hàng đơn giản và hiệu quả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" y="109855"/>
            <a:ext cx="10637520" cy="1325880"/>
          </a:xfrm>
        </p:spPr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CÔNG NGHỆ SỬ DỤNG</a:t>
            </a:r>
            <a:endParaRPr lang="en-US"/>
          </a:p>
        </p:txBody>
      </p:sp>
      <p:pic>
        <p:nvPicPr>
          <p:cNvPr id="9" name="Picture 8" descr="logonodej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1872" b="26326"/>
          <a:stretch>
            <a:fillRect/>
          </a:stretch>
        </p:blipFill>
        <p:spPr>
          <a:xfrm>
            <a:off x="8815070" y="1438910"/>
            <a:ext cx="2675255" cy="1282700"/>
          </a:xfrm>
          <a:prstGeom prst="rect">
            <a:avLst/>
          </a:prstGeom>
        </p:spPr>
      </p:pic>
      <p:pic>
        <p:nvPicPr>
          <p:cNvPr id="11" name="Picture 10" descr="log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85" y="1421130"/>
            <a:ext cx="2507615" cy="1300480"/>
          </a:xfrm>
          <a:prstGeom prst="rect">
            <a:avLst/>
          </a:prstGeom>
        </p:spPr>
      </p:pic>
      <p:pic>
        <p:nvPicPr>
          <p:cNvPr id="12" name="Picture 11" descr="log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1435735"/>
            <a:ext cx="2286000" cy="1285875"/>
          </a:xfrm>
          <a:prstGeom prst="rect">
            <a:avLst/>
          </a:prstGeom>
        </p:spPr>
      </p:pic>
      <p:pic>
        <p:nvPicPr>
          <p:cNvPr id="4" name="Picture 3" descr="logojw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460" y="3862705"/>
            <a:ext cx="3703320" cy="2316480"/>
          </a:xfrm>
          <a:prstGeom prst="rect">
            <a:avLst/>
          </a:prstGeom>
        </p:spPr>
      </p:pic>
      <p:pic>
        <p:nvPicPr>
          <p:cNvPr id="6" name="Picture 5" descr="logo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8760" y="3395345"/>
            <a:ext cx="3251200" cy="3251200"/>
          </a:xfrm>
          <a:prstGeom prst="rect">
            <a:avLst/>
          </a:prstGeom>
        </p:spPr>
      </p:pic>
      <p:pic>
        <p:nvPicPr>
          <p:cNvPr id="7" name="Picture 6" descr="logotailw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30" y="4379595"/>
            <a:ext cx="250825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230"/>
            <a:ext cx="10515600" cy="1325563"/>
          </a:xfrm>
        </p:spPr>
        <p:txBody>
          <a:bodyPr/>
          <a:p>
            <a:pPr algn="ctr">
              <a:buClrTx/>
              <a:buSzTx/>
              <a:buFontTx/>
            </a:pP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Sơ đồ usecase tổng quát</a:t>
            </a:r>
            <a:endParaRPr lang="en-US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2" name="Picture 82" descr="Ảnh màn hình 2025-12-10 lúc 10.15.14 S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95" y="1101090"/>
            <a:ext cx="5257800" cy="5610225"/>
          </a:xfrm>
          <a:prstGeom prst="rect">
            <a:avLst/>
          </a:prstGeom>
        </p:spPr>
      </p:pic>
      <p:sp>
        <p:nvSpPr>
          <p:cNvPr id="5" name="Freeform 3"/>
          <p:cNvSpPr/>
          <p:nvPr/>
        </p:nvSpPr>
        <p:spPr>
          <a:xfrm>
            <a:off x="6095205" y="3978049"/>
            <a:ext cx="10663314" cy="2296259"/>
          </a:xfrm>
          <a:custGeom>
            <a:avLst/>
            <a:gdLst/>
            <a:ahLst/>
            <a:cxnLst/>
            <a:rect l="l" t="t" r="r" b="b"/>
            <a:pathLst>
              <a:path w="10663314" h="2296259">
                <a:moveTo>
                  <a:pt x="0" y="0"/>
                </a:moveTo>
                <a:lnTo>
                  <a:pt x="10663314" y="0"/>
                </a:lnTo>
                <a:lnTo>
                  <a:pt x="10663314" y="2296259"/>
                </a:lnTo>
                <a:lnTo>
                  <a:pt x="0" y="2296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 Box 3"/>
          <p:cNvSpPr txBox="1"/>
          <p:nvPr/>
        </p:nvSpPr>
        <p:spPr>
          <a:xfrm>
            <a:off x="7572375" y="1101090"/>
            <a:ext cx="3781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Các người dùng: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572375" y="1863725"/>
            <a:ext cx="3589655" cy="459740"/>
            <a:chOff x="12227" y="3287"/>
            <a:chExt cx="5653" cy="724"/>
          </a:xfrm>
        </p:grpSpPr>
        <p:sp>
          <p:nvSpPr>
            <p:cNvPr id="6" name="Oval 5"/>
            <p:cNvSpPr/>
            <p:nvPr/>
          </p:nvSpPr>
          <p:spPr>
            <a:xfrm>
              <a:off x="12227" y="3287"/>
              <a:ext cx="720" cy="7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13258" y="3287"/>
              <a:ext cx="4622" cy="72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sz="2400">
                  <a:latin typeface="Times New Roman" panose="02020603050405020304" charset="0"/>
                  <a:cs typeface="Times New Roman" panose="02020603050405020304" charset="0"/>
                </a:rPr>
                <a:t>Người mua vé</a:t>
              </a:r>
              <a:endParaRPr lang="en-US"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72375" y="2799715"/>
            <a:ext cx="3589655" cy="459740"/>
            <a:chOff x="12227" y="3287"/>
            <a:chExt cx="5653" cy="724"/>
          </a:xfrm>
        </p:grpSpPr>
        <p:sp>
          <p:nvSpPr>
            <p:cNvPr id="22" name="Oval 21"/>
            <p:cNvSpPr/>
            <p:nvPr/>
          </p:nvSpPr>
          <p:spPr>
            <a:xfrm>
              <a:off x="12227" y="3287"/>
              <a:ext cx="720" cy="7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3258" y="3287"/>
              <a:ext cx="4622" cy="72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sz="2400">
                  <a:latin typeface="Times New Roman" panose="02020603050405020304" charset="0"/>
                  <a:cs typeface="Times New Roman" panose="02020603050405020304" charset="0"/>
                </a:rPr>
                <a:t>Người bán vé</a:t>
              </a:r>
              <a:endParaRPr lang="en-US"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72375" y="3735705"/>
            <a:ext cx="3589655" cy="459740"/>
            <a:chOff x="12227" y="3287"/>
            <a:chExt cx="5653" cy="724"/>
          </a:xfrm>
        </p:grpSpPr>
        <p:sp>
          <p:nvSpPr>
            <p:cNvPr id="25" name="Oval 24"/>
            <p:cNvSpPr/>
            <p:nvPr/>
          </p:nvSpPr>
          <p:spPr>
            <a:xfrm>
              <a:off x="12227" y="3287"/>
              <a:ext cx="720" cy="7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3</a:t>
              </a:r>
              <a:endParaRPr 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3258" y="3287"/>
              <a:ext cx="4622" cy="72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sz="2400">
                  <a:latin typeface="Times New Roman" panose="02020603050405020304" charset="0"/>
                  <a:cs typeface="Times New Roman" panose="02020603050405020304" charset="0"/>
                </a:rPr>
                <a:t>Quản trị viên</a:t>
              </a:r>
              <a:endParaRPr lang="en-US" sz="2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230"/>
            <a:ext cx="10515600" cy="1325563"/>
          </a:xfrm>
        </p:spPr>
        <p:txBody>
          <a:bodyPr/>
          <a:p>
            <a:pPr algn="ctr">
              <a:buClrTx/>
              <a:buSzTx/>
              <a:buFontTx/>
            </a:pP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Sơ đồ tuần tự và sơ đồ hoạt động</a:t>
            </a:r>
            <a:endParaRPr lang="en-US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-2893220" y="1387884"/>
            <a:ext cx="10663314" cy="2296259"/>
          </a:xfrm>
          <a:custGeom>
            <a:avLst/>
            <a:gdLst/>
            <a:ahLst/>
            <a:cxnLst/>
            <a:rect l="l" t="t" r="r" b="b"/>
            <a:pathLst>
              <a:path w="10663314" h="2296259">
                <a:moveTo>
                  <a:pt x="0" y="0"/>
                </a:moveTo>
                <a:lnTo>
                  <a:pt x="10663314" y="0"/>
                </a:lnTo>
                <a:lnTo>
                  <a:pt x="10663314" y="2296259"/>
                </a:lnTo>
                <a:lnTo>
                  <a:pt x="0" y="22962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01" name="Picture 101" descr="Ảnh màn hình 2025-12-11 lúc 2.28.37 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1132840"/>
            <a:ext cx="6014720" cy="5381625"/>
          </a:xfrm>
          <a:prstGeom prst="rect">
            <a:avLst/>
          </a:prstGeom>
        </p:spPr>
      </p:pic>
      <p:pic>
        <p:nvPicPr>
          <p:cNvPr id="124" name="Picture 124" descr="Ảnh màn hình 2025-12-12 lúc 8.41.23 S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645" y="1132840"/>
            <a:ext cx="6015355" cy="5380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Cơ sở dữ liệu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9" name="Picture 49" descr="Ảnh màn hình 2025-12-10 lúc 10.02.17 S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53210"/>
            <a:ext cx="10748010" cy="5140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Kết quả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741170" y="1849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Đã Triền khai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Hạn chế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319780" y="215836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1. Báo cáo chưa hoàn thiện</a:t>
            </a:r>
            <a:endParaRPr lang="en-US"/>
          </a:p>
          <a:p>
            <a:r>
              <a:rPr lang="en-US"/>
              <a:t>2. Chưa đáp ứng khả năng chịu tải và phản hồi của hệ thống</a:t>
            </a:r>
            <a:endParaRPr lang="en-US"/>
          </a:p>
          <a:p>
            <a:r>
              <a:rPr lang="en-US"/>
              <a:t>3. Giao diện chưa tối ưu và thân thiện với người dùng</a:t>
            </a:r>
            <a:endParaRPr lang="en-US"/>
          </a:p>
          <a:p>
            <a:r>
              <a:rPr lang="en-US"/>
              <a:t>4.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Hướng phát triển</a:t>
            </a:r>
            <a:endParaRPr lang="en-US" altLang="en-US"/>
          </a:p>
        </p:txBody>
      </p:sp>
      <p:sp>
        <p:nvSpPr>
          <p:cNvPr id="3" name="Rounded Rectangle 2"/>
          <p:cNvSpPr/>
          <p:nvPr/>
        </p:nvSpPr>
        <p:spPr>
          <a:xfrm>
            <a:off x="1036955" y="2250440"/>
            <a:ext cx="3212465" cy="20262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Hỗ trợ sản phẩm trên thiết bị di động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807585" y="2250440"/>
            <a:ext cx="3212465" cy="20262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Tối ưu hiệu năng và khả năng chịu tải của hệ thống 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578215" y="2250440"/>
            <a:ext cx="3212465" cy="20262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Tích hợp thêm gợi ý thông minh và chống bot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12415" y="3310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Cảm ơn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WPS Writer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Helvetica Neue</vt:lpstr>
      <vt:lpstr>Microsoft YaHei</vt:lpstr>
      <vt:lpstr>汉仪旗黑</vt:lpstr>
      <vt:lpstr>Arial Unicode MS</vt:lpstr>
      <vt:lpstr>Calibri Light</vt:lpstr>
      <vt:lpstr>汉仪书宋二KW</vt:lpstr>
      <vt:lpstr>Office Theme</vt:lpstr>
      <vt:lpstr>PowerPoint 演示文稿</vt:lpstr>
      <vt:lpstr>PowerPoint 演示文稿</vt:lpstr>
      <vt:lpstr>Mục tiêu</vt:lpstr>
      <vt:lpstr>Công nghệ sử dụng</vt:lpstr>
      <vt:lpstr>Sơ đồ usecase tổng quát</vt:lpstr>
      <vt:lpstr>Sơ đồ tuần tự và sơ đồ hoạt động</vt:lpstr>
      <vt:lpstr>Cơ sở dữ liệu</vt:lpstr>
      <vt:lpstr>Kết quả</vt:lpstr>
      <vt:lpstr>Hạn chế</vt:lpstr>
      <vt:lpstr>Hướng phát triển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Thuận Võ</cp:lastModifiedBy>
  <cp:revision>60</cp:revision>
  <dcterms:created xsi:type="dcterms:W3CDTF">2026-01-17T12:09:04Z</dcterms:created>
  <dcterms:modified xsi:type="dcterms:W3CDTF">2026-01-17T12:09:04Z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7C2B36947F4BC9E8CB2E676902F427D4_41</vt:lpwstr>
  </property>
  <property fmtid="{D5CDD505-2E9C-101B-9397-08002B2CF9AE}" pid="3" name="KSOProductBuildVer">
    <vt:lpwstr>1033-12.1.23152.23152</vt:lpwstr>
  </property>
</Properties>
</file>